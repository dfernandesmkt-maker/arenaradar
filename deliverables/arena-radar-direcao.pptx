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bertura" id="{ab863d10-0bcf-967d-578e-627ee1d4678e}">
          <p14:sldIdLst>
            <p14:sldId id="256"/>
          </p14:sldIdLst>
        </p14:section>
        <p14:section name="Contexto" id="{564ac8e5-cfda-ebf1-d366-09f58dcf75ac}">
          <p14:sldIdLst>
            <p14:sldId id="257"/>
          </p14:sldIdLst>
        </p14:section>
        <p14:section name="O produto" id="{01d77d9c-a080-607a-42b9-0bf65ec1e161}">
          <p14:sldIdLst>
            <p14:sldId id="258"/>
          </p14:sldIdLst>
        </p14:section>
        <p14:section name="Demonstração" id="{692e892d-6fb3-ce30-bc56-22fb0ffbabcb}">
          <p14:sldIdLst>
            <p14:sldId id="259"/>
            <p14:sldId id="260"/>
            <p14:sldId id="261"/>
          </p14:sldIdLst>
        </p14:section>
        <p14:section name="Estado e proposta" id="{223a1286-f16d-7680-2b6f-edf195137d2b}">
          <p14:sldIdLst>
            <p14:sldId id="262"/>
            <p14:sldId id="263"/>
          </p14:sldIdLst>
        </p14:section>
        <p14:section name="Decisão" id="{f13fc915-041e-042f-6f61-4a166532953a}">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com a ideia central: o Radar existe para pôr a equipa de conta à frente da concorrência dos clientes. Três verbos: ver primeiro, perceber o padrão, responder depressa. Tudo o que vão ver hoje usa clientes e marcas fictícios; não há dados reais nesta fase. No fim peço quatro decisões concretas.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Três factos, sem números inventados. O primeiro é a expectativa do cliente. O segundo é a capacidade da equipa. O terceiro é o que mudou no mercado: os dados de anúncios passaram a ser públicos (Meta Ad Library, Google Ads Transparency, TikTok), por isso a vantagem já não está em ter os dados, está em vê-los a tempo e saber o que fazer.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objeto central é o movimento: algo que um concorrente fez e que se pode provar. Cada movimento traz quatro coisas: a prova, porque é importante (com os pontos explicados), o que a marca costuma fazer a seguir e se já há uma resposta combinada com o cliente. Em baixo, as cinco áreas da plataforma, cada uma responde a uma pergunta da equipa de conta.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Exemplo com o cliente fictício Vetra, de combustíveis. Na segunda-feira, o Radar abre com o movimento mais importante da semana: a Kaldo, concorrente fictício, baixou 8 cêntimos por litro ao fim de semana. Um clique mostra a prova (os criativos e a série de preço) e porque é importante. O resumo da semana já vem escrito; a equipa revê e decide. Se houver tempo, mostrar ao vivo com o botão Demonstração.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Antecipar mostra as próximas 12 semanas. As janelas a tracejado vêm do histórico de cada marca: a mesma campanha na mesma altura do ano, o ritmo das promoções. Dois exemplos: a Zefira já está a testar criativos, o que no passado antecedeu a campanha de inverno; e o nosso próprio plano tem uma campanha de preço na semana em que a Kaldo costuma fazer Black Friday. É antecipação acionável, com método e confiança visíveis, não adivinhação.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Governação desde o início. O texto que a IA escreve fica sempre por rever, e o email só se copia depois de revisto. Ao modelo só seguem dados públicos sobre concorrentes, nunca dados internos do cliente. Na demonstração, este trabalho é feito por regras; o uso de IA real depende de IT e Compliance (pergunta Q13). As respostas são combinadas com o cliente de antemão; ativar é sempre decisão da equipa.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Estado honesto. O conceito e o protótipo estão feitos. A deteção de movimentos, a importância, as previsões e os choques estão feitos com dados simulados: os métodos são os que vamos usar com dados reais, mas ainda não foram provados. A IA está preparada e depende de IT e Compliance. Faltam a recolha de dados reais, os dados do cliente e a decisão de stack com 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recomendação é provar antes de investir. Primeiro um teste de duas semanas com dados reais, só de fontes públicas, para medir se vemos os movimentos que importam. Se passar, um piloto de seis semanas com uma equipa de conta: três em modo sombra, três em uso, e decisão na semana sete. Investimento: o meu tempo (estimativa de 3 a 4 horas por semana) e o de uma equipa de conta no piloto. Os critérios são propostas, a validar convosco.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Fechar com as quatro decisões. As duas primeiras são da direção: o teste e, se passar, o piloto, com a escolha da equipa e do cliente. A terceira é encaminhar as perguntas que bloqueiam a versão ligada para quem as pode responder. A quarta só se aplica se o grupo já tiver uma fonte licenciada de investimento. Oferecer a demonstração ao vivo no fim.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APA">
    <p:bg>
      <p:bgPr>
        <a:solidFill>
          <a:srgbClr val="0F2623"/>
        </a:solidFill>
      </p:bgPr>
    </p:bg>
    <p:spTree>
      <p:nvGrpSpPr>
        <p:cNvPr id="1" name=""/>
        <p:cNvGrpSpPr/>
        <p:nvPr/>
      </p:nvGrpSpPr>
      <p:grpSpPr>
        <a:xfrm>
          <a:off x="0" y="0"/>
          <a:ext cx="0" cy="0"/>
          <a:chOff x="0" y="0"/>
          <a:chExt cx="0" cy="0"/>
        </a:xfrm>
      </p:grpSpPr>
      <p:sp>
        <p:nvSpPr>
          <p:cNvPr id="2" name="Shape 0"/>
          <p:cNvSpPr/>
          <p:nvPr/>
        </p:nvSpPr>
        <p:spPr>
          <a:xfrm>
            <a:off x="548640" y="548640"/>
            <a:ext cx="914400" cy="914400"/>
          </a:xfrm>
          <a:prstGeom prst="rect">
            <a:avLst>
              <a:gd name="adj" fmla="val 12000"/>
            </a:avLst>
          </a:prstGeom>
          <a:solidFill>
            <a:srgbClr val="FFFFFF"/>
          </a:solidFill>
          <a:ln/>
        </p:spPr>
      </p:sp>
      <p:pic>
        <p:nvPicPr>
          <p:cNvPr id="3" name="Image 0" descr="/home/user/arenaradar/assets/arena_media_portugal_logo.jpg">    </p:cNvPr>
          <p:cNvPicPr>
            <a:picLocks noChangeAspect="1"/>
          </p:cNvPicPr>
          <p:nvPr/>
        </p:nvPicPr>
        <p:blipFill>
          <a:blip r:embed="rId1"/>
          <a:stretch>
            <a:fillRect/>
          </a:stretch>
        </p:blipFill>
        <p:spPr>
          <a:xfrm>
            <a:off x="621792" y="621792"/>
            <a:ext cx="768096" cy="768096"/>
          </a:xfrm>
          <a:prstGeom prst="rect">
            <a:avLst/>
          </a:prstGeom>
        </p:spPr>
      </p:pic>
      <p:sp>
        <p:nvSpPr>
          <p:cNvPr id="4" name="Text 1"/>
          <p:cNvSpPr/>
          <p:nvPr>
            <p:ph idx="102" type="title" hasCustomPrompt="1"/>
          </p:nvPr>
        </p:nvSpPr>
        <p:spPr>
          <a:xfrm>
            <a:off x="548640" y="2148840"/>
            <a:ext cx="8686800" cy="1188720"/>
          </a:xfrm>
          <a:prstGeom prst="rect">
            <a:avLst/>
          </a:prstGeom>
          <a:noFill/>
          <a:ln/>
        </p:spPr>
        <p:txBody>
          <a:bodyPr wrap="square" rtlCol="0"/>
          <a:lstStyle>
            <a:lvl1pPr algn="l" indent="0" marL="0">
              <a:buNone/>
              <a:defRPr lang="en-US" sz="6000" b="1" dirty="0">
                <a:solidFill>
                  <a:srgbClr val="FFFFFF"/>
                </a:solidFill>
              </a:defRPr>
            </a:lvl1pPr>
          </a:lstStyle>
          <a:p>
            <a:pPr algn="l" indent="0" marL="0">
              <a:buNone/>
            </a:pPr>
            <a:endParaRPr lang="en-US" sz="6000" dirty="0"/>
          </a:p>
        </p:txBody>
      </p:sp>
      <p:sp>
        <p:nvSpPr>
          <p:cNvPr id="5" name="Text 1"/>
          <p:cNvSpPr/>
          <p:nvPr>
            <p:ph idx="103" type="body" hasCustomPrompt="1"/>
          </p:nvPr>
        </p:nvSpPr>
        <p:spPr>
          <a:xfrm>
            <a:off x="548640" y="3520440"/>
            <a:ext cx="8686800" cy="1097280"/>
          </a:xfrm>
          <a:prstGeom prst="rect">
            <a:avLst/>
          </a:prstGeom>
          <a:noFill/>
          <a:ln/>
        </p:spPr>
        <p:txBody>
          <a:bodyPr wrap="square" rtlCol="0"/>
          <a:lstStyle>
            <a:lvl1pPr algn="l" indent="0" marL="0">
              <a:buNone/>
              <a:defRPr lang="en-US" sz="2400" dirty="0">
                <a:solidFill>
                  <a:srgbClr val="FFFFFF"/>
                </a:solidFill>
              </a:defRPr>
            </a:lvl1pPr>
          </a:lstStyle>
          <a:p>
            <a:pPr algn="l" indent="0" marL="0">
              <a:buNone/>
            </a:pPr>
            <a:endParaRPr lang="en-US" sz="2400" dirty="0"/>
          </a:p>
        </p:txBody>
      </p:sp>
      <p:sp>
        <p:nvSpPr>
          <p:cNvPr id="6" name="Text 1"/>
          <p:cNvSpPr/>
          <p:nvPr/>
        </p:nvSpPr>
        <p:spPr>
          <a:xfrm>
            <a:off x="548640" y="5989320"/>
            <a:ext cx="7315200" cy="365760"/>
          </a:xfrm>
          <a:prstGeom prst="rect">
            <a:avLst/>
          </a:prstGeom>
          <a:noFill/>
          <a:ln/>
        </p:spPr>
        <p:txBody>
          <a:bodyPr wrap="square" lIns="0" tIns="0" rIns="0" bIns="0" rtlCol="0" anchor="ctr"/>
          <a:lstStyle/>
          <a:p>
            <a:pPr indent="0" marL="0">
              <a:buNone/>
            </a:pPr>
            <a:r>
              <a:rPr lang="en-US" sz="1300" dirty="0">
                <a:solidFill>
                  <a:srgbClr val="F1F4F3"/>
                </a:solidFill>
              </a:rPr>
              <a:t>Ponto de situação para a direção · Outubro 2026</a:t>
            </a:r>
            <a:endParaRPr lang="en-US" sz="1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UDO">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4E5F5C"/>
                </a:solidFill>
              </a:rPr>
              <a:t>Arena Radar · Ponto de situação para a direção · Outubro 2026</a:t>
            </a:r>
            <a:endParaRPr lang="en-US" sz="1000" dirty="0"/>
          </a:p>
        </p:txBody>
      </p:sp>
      <p:pic>
        <p:nvPicPr>
          <p:cNvPr id="3" name="Image 0" descr="/home/user/arenaradar/assets/arena_media_portugal_logo.jpg">    </p:cNvPr>
          <p:cNvPicPr>
            <a:picLocks noChangeAspect="1"/>
          </p:cNvPicPr>
          <p:nvPr/>
        </p:nvPicPr>
        <p:blipFill>
          <a:blip r:embed="rId1"/>
          <a:stretch>
            <a:fillRect/>
          </a:stretch>
        </p:blipFill>
        <p:spPr>
          <a:xfrm>
            <a:off x="11259007" y="6272784"/>
            <a:ext cx="384048" cy="384048"/>
          </a:xfrm>
          <a:prstGeom prst="rect">
            <a:avLst/>
          </a:prstGeom>
        </p:spPr>
      </p:pic>
      <p:sp>
        <p:nvSpPr>
          <p:cNvPr id="4" name="Text 1"/>
          <p:cNvSpPr/>
          <p:nvPr>
            <p:ph idx="102" type="title" hasCustomPrompt="1"/>
          </p:nvPr>
        </p:nvSpPr>
        <p:spPr>
          <a:xfrm>
            <a:off x="548640" y="411480"/>
            <a:ext cx="11094415" cy="777240"/>
          </a:xfrm>
          <a:prstGeom prst="rect">
            <a:avLst/>
          </a:prstGeom>
          <a:noFill/>
          <a:ln/>
        </p:spPr>
        <p:txBody>
          <a:bodyPr wrap="square" rtlCol="0"/>
          <a:lstStyle>
            <a:lvl1pPr algn="l" indent="0" marL="0">
              <a:buNone/>
              <a:defRPr lang="en-US" sz="3200" b="1" dirty="0">
                <a:solidFill>
                  <a:srgbClr val="0F2623"/>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454335"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E5F5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ECHO">
    <p:bg>
      <p:bgPr>
        <a:solidFill>
          <a:srgbClr val="0F262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48640"/>
            <a:ext cx="11094415" cy="822960"/>
          </a:xfrm>
          <a:prstGeom prst="rect">
            <a:avLst/>
          </a:prstGeom>
          <a:noFill/>
          <a:ln/>
        </p:spPr>
        <p:txBody>
          <a:bodyPr wrap="square" rtlCol="0"/>
          <a:lstStyle>
            <a:lvl1pPr algn="l" indent="0" marL="0">
              <a:buNone/>
              <a:defRPr lang="en-US" sz="3600" b="1" dirty="0">
                <a:solidFill>
                  <a:srgbClr val="FFFFFF"/>
                </a:solidFill>
              </a:defRPr>
            </a:lvl1pPr>
          </a:lstStyle>
          <a:p>
            <a:pPr algn="l" indent="0" marL="0">
              <a:buNone/>
            </a:pPr>
            <a:endParaRPr lang="en-US" sz="3600" dirty="0"/>
          </a:p>
        </p:txBody>
      </p:sp>
      <p:sp>
        <p:nvSpPr>
          <p:cNvPr id="3" name="Shape 0"/>
          <p:cNvSpPr/>
          <p:nvPr/>
        </p:nvSpPr>
        <p:spPr>
          <a:xfrm>
            <a:off x="11076127" y="6053328"/>
            <a:ext cx="566928" cy="566928"/>
          </a:xfrm>
          <a:prstGeom prst="rect">
            <a:avLst>
              <a:gd name="adj" fmla="val 12903"/>
            </a:avLst>
          </a:prstGeom>
          <a:solidFill>
            <a:srgbClr val="FFFFFF"/>
          </a:solidFill>
          <a:ln/>
        </p:spPr>
      </p:sp>
      <p:pic>
        <p:nvPicPr>
          <p:cNvPr id="4" name="Image 0" descr="/home/user/arenaradar/assets/arena_media_portugal_logo.jpg">    </p:cNvPr>
          <p:cNvPicPr>
            <a:picLocks noChangeAspect="1"/>
          </p:cNvPicPr>
          <p:nvPr/>
        </p:nvPicPr>
        <p:blipFill>
          <a:blip r:embed="rId1"/>
          <a:stretch>
            <a:fillRect/>
          </a:stretch>
        </p:blipFill>
        <p:spPr>
          <a:xfrm>
            <a:off x="11121847" y="6099048"/>
            <a:ext cx="475488" cy="475488"/>
          </a:xfrm>
          <a:prstGeom prst="rect">
            <a:avLst/>
          </a:prstGeom>
        </p:spPr>
      </p:pic>
      <p:sp>
        <p:nvSpPr>
          <p:cNvPr id="5" name="Text 1"/>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F1F4F3"/>
                </a:solidFill>
              </a:rPr>
              <a:t>Arena Radar · Ponto de situação para a direção · Outubro 2026</a:t>
            </a:r>
            <a:endParaRPr lang="en-US" sz="1000" dirty="0"/>
          </a:p>
        </p:txBody>
      </p:sp>
      <p:sp>
        <p:nvSpPr>
          <p:cNvPr id="25" name="Slide Number Placeholder 0"/>
          <p:cNvSpPr>
            <a:spLocks noGrp="1"/>
          </p:cNvSpPr>
          <p:nvPr>
            <p:ph type="sldNum" sz="quarter" idx="4294967295"/>
          </p:nvPr>
        </p:nvSpPr>
        <p:spPr>
          <a:xfrm>
            <a:off x="10271455"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1F4F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454335"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E5F5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548640" y="2148840"/>
            <a:ext cx="8686800" cy="1188720"/>
          </a:xfrm>
          <a:prstGeom prst="rect">
            <a:avLst/>
          </a:prstGeom>
          <a:noFill/>
          <a:ln/>
        </p:spPr>
        <p:txBody>
          <a:bodyPr wrap="square" lIns="0" tIns="0" rIns="0" bIns="0" rtlCol="0" anchor="b"/>
          <a:lstStyle/>
          <a:p>
            <a:pPr algn="l" indent="0" marL="0">
              <a:buNone/>
            </a:pPr>
            <a:r>
              <a:rPr lang="en-US" sz="6000" b="1" dirty="0">
                <a:solidFill>
                  <a:srgbClr val="FFFFFF"/>
                </a:solidFill>
              </a:rPr>
              <a:t>Arena Radar</a:t>
            </a:r>
            <a:endParaRPr lang="en-US" sz="6000" dirty="0"/>
          </a:p>
        </p:txBody>
      </p:sp>
      <p:sp>
        <p:nvSpPr>
          <p:cNvPr id="3" name="Text 1"/>
          <p:cNvSpPr/>
          <p:nvPr>
            <p:ph idx="103" type="body" hasCustomPrompt="1"/>
          </p:nvPr>
        </p:nvSpPr>
        <p:spPr>
          <a:xfrm>
            <a:off x="548640" y="3520440"/>
            <a:ext cx="8686800" cy="1097280"/>
          </a:xfrm>
          <a:prstGeom prst="rect">
            <a:avLst/>
          </a:prstGeom>
          <a:noFill/>
          <a:ln/>
        </p:spPr>
        <p:txBody>
          <a:bodyPr wrap="square" lIns="0" tIns="0" rIns="0" bIns="0" rtlCol="0" anchor="t"/>
          <a:lstStyle/>
          <a:p>
            <a:pPr algn="l" indent="0" marL="0">
              <a:buNone/>
            </a:pPr>
            <a:r>
              <a:rPr lang="en-US" sz="2400" dirty="0">
                <a:solidFill>
                  <a:srgbClr val="FFFFFF"/>
                </a:solidFill>
              </a:rPr>
              <a:t>Ver primeiro. Perceber o padrão. Responder depressa.</a:t>
            </a:r>
            <a:endParaRPr lang="en-US" sz="2400" dirty="0"/>
          </a:p>
        </p:txBody>
      </p:sp>
      <p:sp>
        <p:nvSpPr>
          <p:cNvPr id="4" name="radar 0"/>
          <p:cNvSpPr/>
          <p:nvPr/>
        </p:nvSpPr>
        <p:spPr>
          <a:xfrm>
            <a:off x="9052560" y="1965960"/>
            <a:ext cx="2926080" cy="2926080"/>
          </a:xfrm>
          <a:prstGeom prst="ellipse">
            <a:avLst/>
          </a:prstGeom>
          <a:ln w="12700">
            <a:solidFill>
              <a:srgbClr val="FFFFFF">
                <a:alpha val="30000"/>
              </a:srgbClr>
            </a:solidFill>
            <a:prstDash val="solid"/>
          </a:ln>
        </p:spPr>
      </p:sp>
      <p:sp>
        <p:nvSpPr>
          <p:cNvPr id="5" name="radar 1"/>
          <p:cNvSpPr/>
          <p:nvPr/>
        </p:nvSpPr>
        <p:spPr>
          <a:xfrm>
            <a:off x="9464040" y="2377440"/>
            <a:ext cx="2103120" cy="2103120"/>
          </a:xfrm>
          <a:prstGeom prst="ellipse">
            <a:avLst/>
          </a:prstGeom>
          <a:ln w="12700">
            <a:solidFill>
              <a:srgbClr val="FFFFFF">
                <a:alpha val="25000"/>
              </a:srgbClr>
            </a:solidFill>
            <a:prstDash val="solid"/>
          </a:ln>
        </p:spPr>
      </p:sp>
      <p:sp>
        <p:nvSpPr>
          <p:cNvPr id="6" name="radar 2"/>
          <p:cNvSpPr/>
          <p:nvPr/>
        </p:nvSpPr>
        <p:spPr>
          <a:xfrm>
            <a:off x="9875520" y="2788920"/>
            <a:ext cx="1280160" cy="1280160"/>
          </a:xfrm>
          <a:prstGeom prst="ellipse">
            <a:avLst/>
          </a:prstGeom>
          <a:ln w="12700">
            <a:solidFill>
              <a:srgbClr val="FFFFFF">
                <a:alpha val="20000"/>
              </a:srgbClr>
            </a:solidFill>
            <a:prstDash val="solid"/>
          </a:ln>
        </p:spPr>
      </p:sp>
      <p:sp>
        <p:nvSpPr>
          <p:cNvPr id="7" name="varrimento"/>
          <p:cNvSpPr/>
          <p:nvPr/>
        </p:nvSpPr>
        <p:spPr>
          <a:xfrm>
            <a:off x="10515600" y="1965960"/>
            <a:ext cx="0" cy="1463040"/>
          </a:xfrm>
          <a:prstGeom prst="line">
            <a:avLst/>
          </a:prstGeom>
          <a:noFill/>
          <a:ln w="19050">
            <a:solidFill>
              <a:srgbClr val="FFDC32"/>
            </a:solidFill>
            <a:prstDash val="solid"/>
          </a:ln>
        </p:spPr>
      </p:sp>
      <p:sp>
        <p:nvSpPr>
          <p:cNvPr id="8" name="sinal"/>
          <p:cNvSpPr/>
          <p:nvPr/>
        </p:nvSpPr>
        <p:spPr>
          <a:xfrm>
            <a:off x="11082528" y="2514600"/>
            <a:ext cx="164592" cy="164592"/>
          </a:xfrm>
          <a:prstGeom prst="ellipse">
            <a:avLst/>
          </a:prstGeom>
          <a:solidFill>
            <a:srgbClr val="FFDC32"/>
          </a:solidFill>
          <a:ln w="12700">
            <a:solidFill>
              <a:srgbClr val="FFDC3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rgbClr val="0F2623"/>
                </a:solidFill>
              </a:rPr>
              <a:t>Os dados são públicos; ver a tempo não é</a:t>
            </a:r>
            <a:endParaRPr lang="en-US" sz="3200" dirty="0"/>
          </a:p>
        </p:txBody>
      </p:sp>
      <p:sp>
        <p:nvSpPr>
          <p:cNvPr id="3" name="problema 1"/>
          <p:cNvSpPr/>
          <p:nvPr/>
        </p:nvSpPr>
        <p:spPr>
          <a:xfrm>
            <a:off x="548640" y="1508760"/>
            <a:ext cx="3515258" cy="3246120"/>
          </a:xfrm>
          <a:prstGeom prst="roundRect">
            <a:avLst>
              <a:gd name="adj" fmla="val 3380"/>
            </a:avLst>
          </a:prstGeom>
          <a:solidFill>
            <a:srgbClr val="F1F4F3"/>
          </a:solidFill>
          <a:ln w="12700">
            <a:solidFill>
              <a:srgbClr val="F1F4F3"/>
            </a:solidFill>
            <a:prstDash val="solid"/>
          </a:ln>
        </p:spPr>
      </p:sp>
      <p:sp>
        <p:nvSpPr>
          <p:cNvPr id="4" name="numero 1"/>
          <p:cNvSpPr/>
          <p:nvPr/>
        </p:nvSpPr>
        <p:spPr>
          <a:xfrm>
            <a:off x="868680" y="1828800"/>
            <a:ext cx="420624" cy="420624"/>
          </a:xfrm>
          <a:prstGeom prst="ellipse">
            <a:avLst/>
          </a:prstGeom>
          <a:solidFill>
            <a:srgbClr val="0F2623"/>
          </a:solidFill>
          <a:ln w="12700">
            <a:solidFill>
              <a:srgbClr val="0F2623"/>
            </a:solidFill>
            <a:prstDash val="solid"/>
          </a:ln>
        </p:spPr>
      </p:sp>
      <p:sp>
        <p:nvSpPr>
          <p:cNvPr id="5" name="Text 3"/>
          <p:cNvSpPr txBox="1"/>
          <p:nvPr/>
        </p:nvSpPr>
        <p:spPr>
          <a:xfrm>
            <a:off x="868680" y="18288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868680" y="2468880"/>
            <a:ext cx="2875178" cy="822960"/>
          </a:xfrm>
          <a:prstGeom prst="rect">
            <a:avLst/>
          </a:prstGeom>
          <a:noFill/>
          <a:ln/>
        </p:spPr>
        <p:txBody>
          <a:bodyPr wrap="square" lIns="0" tIns="0" rIns="0" bIns="0" rtlCol="0" anchor="t"/>
          <a:lstStyle/>
          <a:p>
            <a:pPr indent="0" marL="0">
              <a:buNone/>
            </a:pPr>
            <a:r>
              <a:rPr lang="en-US" sz="2100" b="1" dirty="0">
                <a:solidFill>
                  <a:srgbClr val="0F2623"/>
                </a:solidFill>
              </a:rPr>
              <a:t>Os clientes querem antecipação</a:t>
            </a:r>
            <a:endParaRPr lang="en-US" sz="2100" dirty="0"/>
          </a:p>
        </p:txBody>
      </p:sp>
      <p:sp>
        <p:nvSpPr>
          <p:cNvPr id="7" name="Text 5"/>
          <p:cNvSpPr txBox="1"/>
          <p:nvPr/>
        </p:nvSpPr>
        <p:spPr>
          <a:xfrm>
            <a:off x="868680" y="3337560"/>
            <a:ext cx="2875178" cy="1280160"/>
          </a:xfrm>
          <a:prstGeom prst="rect">
            <a:avLst/>
          </a:prstGeom>
          <a:noFill/>
          <a:ln/>
        </p:spPr>
        <p:txBody>
          <a:bodyPr wrap="square" lIns="0" tIns="0" rIns="0" bIns="0" rtlCol="0" anchor="t"/>
          <a:lstStyle/>
          <a:p>
            <a:pPr indent="0" marL="0">
              <a:buNone/>
            </a:pPr>
            <a:r>
              <a:rPr lang="en-US" sz="1500" dirty="0">
                <a:solidFill>
                  <a:srgbClr val="4E5F5C"/>
                </a:solidFill>
              </a:rPr>
              <a:t>Esperam que a agência antecipe os movimentos da concorrência, não que os relate no fim do mês.</a:t>
            </a:r>
            <a:endParaRPr lang="en-US" sz="1500" dirty="0"/>
          </a:p>
        </p:txBody>
      </p:sp>
      <p:sp>
        <p:nvSpPr>
          <p:cNvPr id="8" name="problema 2"/>
          <p:cNvSpPr/>
          <p:nvPr/>
        </p:nvSpPr>
        <p:spPr>
          <a:xfrm>
            <a:off x="4338218" y="1508760"/>
            <a:ext cx="3515258" cy="3246120"/>
          </a:xfrm>
          <a:prstGeom prst="roundRect">
            <a:avLst>
              <a:gd name="adj" fmla="val 3380"/>
            </a:avLst>
          </a:prstGeom>
          <a:solidFill>
            <a:srgbClr val="F1F4F3"/>
          </a:solidFill>
          <a:ln w="12700">
            <a:solidFill>
              <a:srgbClr val="F1F4F3"/>
            </a:solidFill>
            <a:prstDash val="solid"/>
          </a:ln>
        </p:spPr>
      </p:sp>
      <p:sp>
        <p:nvSpPr>
          <p:cNvPr id="9" name="numero 2"/>
          <p:cNvSpPr/>
          <p:nvPr/>
        </p:nvSpPr>
        <p:spPr>
          <a:xfrm>
            <a:off x="4658258" y="1828800"/>
            <a:ext cx="420624" cy="420624"/>
          </a:xfrm>
          <a:prstGeom prst="ellipse">
            <a:avLst/>
          </a:prstGeom>
          <a:solidFill>
            <a:srgbClr val="0F2623"/>
          </a:solidFill>
          <a:ln w="12700">
            <a:solidFill>
              <a:srgbClr val="0F2623"/>
            </a:solidFill>
            <a:prstDash val="solid"/>
          </a:ln>
        </p:spPr>
      </p:sp>
      <p:sp>
        <p:nvSpPr>
          <p:cNvPr id="10" name="Text 8"/>
          <p:cNvSpPr txBox="1"/>
          <p:nvPr/>
        </p:nvSpPr>
        <p:spPr>
          <a:xfrm>
            <a:off x="4658258" y="18288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1" name="Text 9"/>
          <p:cNvSpPr txBox="1"/>
          <p:nvPr/>
        </p:nvSpPr>
        <p:spPr>
          <a:xfrm>
            <a:off x="4658258" y="2468880"/>
            <a:ext cx="2875178" cy="822960"/>
          </a:xfrm>
          <a:prstGeom prst="rect">
            <a:avLst/>
          </a:prstGeom>
          <a:noFill/>
          <a:ln/>
        </p:spPr>
        <p:txBody>
          <a:bodyPr wrap="square" lIns="0" tIns="0" rIns="0" bIns="0" rtlCol="0" anchor="t"/>
          <a:lstStyle/>
          <a:p>
            <a:pPr indent="0" marL="0">
              <a:buNone/>
            </a:pPr>
            <a:r>
              <a:rPr lang="en-US" sz="2100" b="1" dirty="0">
                <a:solidFill>
                  <a:srgbClr val="0F2623"/>
                </a:solidFill>
              </a:rPr>
              <a:t>Não cabe no tempo das equipas</a:t>
            </a:r>
            <a:endParaRPr lang="en-US" sz="2100" dirty="0"/>
          </a:p>
        </p:txBody>
      </p:sp>
      <p:sp>
        <p:nvSpPr>
          <p:cNvPr id="12" name="Text 10"/>
          <p:cNvSpPr txBox="1"/>
          <p:nvPr/>
        </p:nvSpPr>
        <p:spPr>
          <a:xfrm>
            <a:off x="4658258" y="3337560"/>
            <a:ext cx="2875178" cy="1280160"/>
          </a:xfrm>
          <a:prstGeom prst="rect">
            <a:avLst/>
          </a:prstGeom>
          <a:noFill/>
          <a:ln/>
        </p:spPr>
        <p:txBody>
          <a:bodyPr wrap="square" lIns="0" tIns="0" rIns="0" bIns="0" rtlCol="0" anchor="t"/>
          <a:lstStyle/>
          <a:p>
            <a:pPr indent="0" marL="0">
              <a:buNone/>
            </a:pPr>
            <a:r>
              <a:rPr lang="en-US" sz="1500" dirty="0">
                <a:solidFill>
                  <a:srgbClr val="4E5F5C"/>
                </a:solidFill>
              </a:rPr>
              <a:t>Seguir a concorrência de forma contínua não cabe no dia a dia das equipas de conta. Hoje é pontual e manual.</a:t>
            </a:r>
            <a:endParaRPr lang="en-US" sz="1500" dirty="0"/>
          </a:p>
        </p:txBody>
      </p:sp>
      <p:sp>
        <p:nvSpPr>
          <p:cNvPr id="13" name="problema 3"/>
          <p:cNvSpPr/>
          <p:nvPr/>
        </p:nvSpPr>
        <p:spPr>
          <a:xfrm>
            <a:off x="8127797" y="1508760"/>
            <a:ext cx="3515258" cy="3246120"/>
          </a:xfrm>
          <a:prstGeom prst="roundRect">
            <a:avLst>
              <a:gd name="adj" fmla="val 3380"/>
            </a:avLst>
          </a:prstGeom>
          <a:solidFill>
            <a:srgbClr val="F1F4F3"/>
          </a:solidFill>
          <a:ln w="12700">
            <a:solidFill>
              <a:srgbClr val="F1F4F3"/>
            </a:solidFill>
            <a:prstDash val="solid"/>
          </a:ln>
        </p:spPr>
      </p:sp>
      <p:sp>
        <p:nvSpPr>
          <p:cNvPr id="14" name="numero 3"/>
          <p:cNvSpPr/>
          <p:nvPr/>
        </p:nvSpPr>
        <p:spPr>
          <a:xfrm>
            <a:off x="8447837" y="1828800"/>
            <a:ext cx="420624" cy="420624"/>
          </a:xfrm>
          <a:prstGeom prst="ellipse">
            <a:avLst/>
          </a:prstGeom>
          <a:solidFill>
            <a:srgbClr val="0F2623"/>
          </a:solidFill>
          <a:ln w="12700">
            <a:solidFill>
              <a:srgbClr val="0F2623"/>
            </a:solidFill>
            <a:prstDash val="solid"/>
          </a:ln>
        </p:spPr>
      </p:sp>
      <p:sp>
        <p:nvSpPr>
          <p:cNvPr id="15" name="Text 13"/>
          <p:cNvSpPr txBox="1"/>
          <p:nvPr/>
        </p:nvSpPr>
        <p:spPr>
          <a:xfrm>
            <a:off x="8447837" y="18288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6" name="Text 14"/>
          <p:cNvSpPr txBox="1"/>
          <p:nvPr/>
        </p:nvSpPr>
        <p:spPr>
          <a:xfrm>
            <a:off x="8447837" y="2468880"/>
            <a:ext cx="2875178" cy="822960"/>
          </a:xfrm>
          <a:prstGeom prst="rect">
            <a:avLst/>
          </a:prstGeom>
          <a:noFill/>
          <a:ln/>
        </p:spPr>
        <p:txBody>
          <a:bodyPr wrap="square" lIns="0" tIns="0" rIns="0" bIns="0" rtlCol="0" anchor="t"/>
          <a:lstStyle/>
          <a:p>
            <a:pPr indent="0" marL="0">
              <a:buNone/>
            </a:pPr>
            <a:r>
              <a:rPr lang="en-US" sz="2100" b="1" dirty="0">
                <a:solidFill>
                  <a:srgbClr val="0F2623"/>
                </a:solidFill>
              </a:rPr>
              <a:t>O diferencial mudou</a:t>
            </a:r>
            <a:endParaRPr lang="en-US" sz="2100" dirty="0"/>
          </a:p>
        </p:txBody>
      </p:sp>
      <p:sp>
        <p:nvSpPr>
          <p:cNvPr id="17" name="Text 15"/>
          <p:cNvSpPr txBox="1"/>
          <p:nvPr/>
        </p:nvSpPr>
        <p:spPr>
          <a:xfrm>
            <a:off x="8447837" y="3337560"/>
            <a:ext cx="2875178" cy="1280160"/>
          </a:xfrm>
          <a:prstGeom prst="rect">
            <a:avLst/>
          </a:prstGeom>
          <a:noFill/>
          <a:ln/>
        </p:spPr>
        <p:txBody>
          <a:bodyPr wrap="square" lIns="0" tIns="0" rIns="0" bIns="0" rtlCol="0" anchor="t"/>
          <a:lstStyle/>
          <a:p>
            <a:pPr indent="0" marL="0">
              <a:buNone/>
            </a:pPr>
            <a:r>
              <a:rPr lang="en-US" sz="1500" dirty="0">
                <a:solidFill>
                  <a:srgbClr val="4E5F5C"/>
                </a:solidFill>
              </a:rPr>
              <a:t>Bibliotecas de anúncios, preços publicados e notícias estão ao alcance de todos. Conta ver a tempo e saber o que fazer.</a:t>
            </a:r>
            <a:endParaRPr lang="en-US" sz="1500" dirty="0"/>
          </a:p>
        </p:txBody>
      </p:sp>
      <p:sp>
        <p:nvSpPr>
          <p:cNvPr id="18" name="Text 16"/>
          <p:cNvSpPr txBox="1"/>
          <p:nvPr/>
        </p:nvSpPr>
        <p:spPr>
          <a:xfrm>
            <a:off x="548640" y="5166360"/>
            <a:ext cx="11094415" cy="457200"/>
          </a:xfrm>
          <a:prstGeom prst="rect">
            <a:avLst/>
          </a:prstGeom>
          <a:noFill/>
          <a:ln/>
        </p:spPr>
        <p:txBody>
          <a:bodyPr wrap="square" lIns="0" tIns="0" rIns="0" bIns="0" rtlCol="0" anchor="t"/>
          <a:lstStyle/>
          <a:p>
            <a:pPr indent="0" marL="0">
              <a:buNone/>
            </a:pPr>
            <a:r>
              <a:rPr lang="en-US" sz="1700" i="1" dirty="0">
                <a:solidFill>
                  <a:srgbClr val="0F2623"/>
                </a:solidFill>
              </a:rPr>
              <a:t>O Radar não vende vigilância. Vende tempo: saber antes, com prova, e já com uma resposta combinada.</a:t>
            </a:r>
            <a:endParaRPr lang="en-US" sz="1700" dirty="0"/>
          </a:p>
        </p:txBody>
      </p:sp>
      <p:sp>
        <p:nvSpPr>
          <p:cNvPr id="25" name="Slide Number Placeholder 0"/>
          <p:cNvSpPr>
            <a:spLocks noGrp="1"/>
          </p:cNvSpPr>
          <p:nvPr>
            <p:ph type="sldNum" sz="quarter" idx="4294967295"/>
          </p:nvPr>
        </p:nvSpPr>
        <p:spPr>
          <a:xfrm>
            <a:off x="10454335"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E5F5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rgbClr val="0F2623"/>
                </a:solidFill>
              </a:rPr>
              <a:t>O movimento da concorrência é o centro do Radar</a:t>
            </a:r>
            <a:endParaRPr lang="en-US" sz="3200" dirty="0"/>
          </a:p>
        </p:txBody>
      </p:sp>
      <p:sp>
        <p:nvSpPr>
          <p:cNvPr id="3" name="ligação Prova"/>
          <p:cNvSpPr/>
          <p:nvPr/>
        </p:nvSpPr>
        <p:spPr>
          <a:xfrm>
            <a:off x="3931920" y="2011680"/>
            <a:ext cx="539496" cy="868680"/>
          </a:xfrm>
          <a:prstGeom prst="line">
            <a:avLst/>
          </a:prstGeom>
          <a:noFill/>
          <a:ln w="15875">
            <a:solidFill>
              <a:srgbClr val="DCE3E1"/>
            </a:solidFill>
            <a:prstDash val="solid"/>
          </a:ln>
        </p:spPr>
      </p:sp>
      <p:sp>
        <p:nvSpPr>
          <p:cNvPr id="4" name="atributo Prova"/>
          <p:cNvSpPr/>
          <p:nvPr/>
        </p:nvSpPr>
        <p:spPr>
          <a:xfrm>
            <a:off x="548640" y="1463040"/>
            <a:ext cx="3383280" cy="1097280"/>
          </a:xfrm>
          <a:prstGeom prst="roundRect">
            <a:avLst>
              <a:gd name="adj" fmla="val 10000"/>
            </a:avLst>
          </a:prstGeom>
          <a:solidFill>
            <a:srgbClr val="F1F4F3"/>
          </a:solidFill>
          <a:ln w="12700">
            <a:solidFill>
              <a:srgbClr val="F1F4F3"/>
            </a:solidFill>
            <a:prstDash val="solid"/>
          </a:ln>
        </p:spPr>
      </p:sp>
      <p:sp>
        <p:nvSpPr>
          <p:cNvPr id="5" name="Text 3"/>
          <p:cNvSpPr txBox="1"/>
          <p:nvPr/>
        </p:nvSpPr>
        <p:spPr>
          <a:xfrm>
            <a:off x="822960" y="1645920"/>
            <a:ext cx="2834640" cy="365760"/>
          </a:xfrm>
          <a:prstGeom prst="rect">
            <a:avLst/>
          </a:prstGeom>
          <a:noFill/>
          <a:ln/>
        </p:spPr>
        <p:txBody>
          <a:bodyPr wrap="square" lIns="0" tIns="0" rIns="0" bIns="0" rtlCol="0" anchor="t"/>
          <a:lstStyle/>
          <a:p>
            <a:pPr indent="0" marL="0">
              <a:buNone/>
            </a:pPr>
            <a:r>
              <a:rPr lang="en-US" sz="1700" b="1" dirty="0">
                <a:solidFill>
                  <a:srgbClr val="0F2623"/>
                </a:solidFill>
              </a:rPr>
              <a:t>Prova</a:t>
            </a:r>
            <a:endParaRPr lang="en-US" sz="1700" dirty="0"/>
          </a:p>
        </p:txBody>
      </p:sp>
      <p:sp>
        <p:nvSpPr>
          <p:cNvPr id="6" name="Text 4"/>
          <p:cNvSpPr txBox="1"/>
          <p:nvPr/>
        </p:nvSpPr>
        <p:spPr>
          <a:xfrm>
            <a:off x="822960" y="2011680"/>
            <a:ext cx="2834640" cy="457200"/>
          </a:xfrm>
          <a:prstGeom prst="rect">
            <a:avLst/>
          </a:prstGeom>
          <a:noFill/>
          <a:ln/>
        </p:spPr>
        <p:txBody>
          <a:bodyPr wrap="square" lIns="0" tIns="0" rIns="0" bIns="0" rtlCol="0" anchor="t"/>
          <a:lstStyle/>
          <a:p>
            <a:pPr indent="0" marL="0">
              <a:buNone/>
            </a:pPr>
            <a:r>
              <a:rPr lang="en-US" sz="1300" dirty="0">
                <a:solidFill>
                  <a:srgbClr val="4E5F5C"/>
                </a:solidFill>
              </a:rPr>
              <a:t>Criativos, série de preço, dados de pesquisa</a:t>
            </a:r>
            <a:endParaRPr lang="en-US" sz="1300" dirty="0"/>
          </a:p>
        </p:txBody>
      </p:sp>
      <p:sp>
        <p:nvSpPr>
          <p:cNvPr id="7" name="ligação Porque importa"/>
          <p:cNvSpPr/>
          <p:nvPr/>
        </p:nvSpPr>
        <p:spPr>
          <a:xfrm>
            <a:off x="3931920" y="3474720"/>
            <a:ext cx="539496" cy="-594360"/>
          </a:xfrm>
          <a:prstGeom prst="line">
            <a:avLst/>
          </a:prstGeom>
          <a:noFill/>
          <a:ln w="15875">
            <a:solidFill>
              <a:srgbClr val="DCE3E1"/>
            </a:solidFill>
            <a:prstDash val="solid"/>
          </a:ln>
        </p:spPr>
      </p:sp>
      <p:sp>
        <p:nvSpPr>
          <p:cNvPr id="8" name="atributo Porque importa"/>
          <p:cNvSpPr/>
          <p:nvPr/>
        </p:nvSpPr>
        <p:spPr>
          <a:xfrm>
            <a:off x="548640" y="2926080"/>
            <a:ext cx="3383280" cy="1097280"/>
          </a:xfrm>
          <a:prstGeom prst="roundRect">
            <a:avLst>
              <a:gd name="adj" fmla="val 10000"/>
            </a:avLst>
          </a:prstGeom>
          <a:solidFill>
            <a:srgbClr val="F1F4F3"/>
          </a:solidFill>
          <a:ln w="12700">
            <a:solidFill>
              <a:srgbClr val="F1F4F3"/>
            </a:solidFill>
            <a:prstDash val="solid"/>
          </a:ln>
        </p:spPr>
      </p:sp>
      <p:sp>
        <p:nvSpPr>
          <p:cNvPr id="9" name="Text 7"/>
          <p:cNvSpPr txBox="1"/>
          <p:nvPr/>
        </p:nvSpPr>
        <p:spPr>
          <a:xfrm>
            <a:off x="822960" y="3108960"/>
            <a:ext cx="2834640" cy="365760"/>
          </a:xfrm>
          <a:prstGeom prst="rect">
            <a:avLst/>
          </a:prstGeom>
          <a:noFill/>
          <a:ln/>
        </p:spPr>
        <p:txBody>
          <a:bodyPr wrap="square" lIns="0" tIns="0" rIns="0" bIns="0" rtlCol="0" anchor="t"/>
          <a:lstStyle/>
          <a:p>
            <a:pPr indent="0" marL="0">
              <a:buNone/>
            </a:pPr>
            <a:r>
              <a:rPr lang="en-US" sz="1700" b="1" dirty="0">
                <a:solidFill>
                  <a:srgbClr val="0F2623"/>
                </a:solidFill>
              </a:rPr>
              <a:t>Porque importa</a:t>
            </a:r>
            <a:endParaRPr lang="en-US" sz="1700" dirty="0"/>
          </a:p>
        </p:txBody>
      </p:sp>
      <p:sp>
        <p:nvSpPr>
          <p:cNvPr id="10" name="Text 8"/>
          <p:cNvSpPr txBox="1"/>
          <p:nvPr/>
        </p:nvSpPr>
        <p:spPr>
          <a:xfrm>
            <a:off x="822960" y="3474720"/>
            <a:ext cx="2834640" cy="457200"/>
          </a:xfrm>
          <a:prstGeom prst="rect">
            <a:avLst/>
          </a:prstGeom>
          <a:noFill/>
          <a:ln/>
        </p:spPr>
        <p:txBody>
          <a:bodyPr wrap="square" lIns="0" tIns="0" rIns="0" bIns="0" rtlCol="0" anchor="t"/>
          <a:lstStyle/>
          <a:p>
            <a:pPr indent="0" marL="0">
              <a:buNone/>
            </a:pPr>
            <a:r>
              <a:rPr lang="en-US" sz="1300" dirty="0">
                <a:solidFill>
                  <a:srgbClr val="4E5F5C"/>
                </a:solidFill>
              </a:rPr>
              <a:t>Pontos explicados, nunca uma caixa negra</a:t>
            </a:r>
            <a:endParaRPr lang="en-US" sz="1300" dirty="0"/>
          </a:p>
        </p:txBody>
      </p:sp>
      <p:sp>
        <p:nvSpPr>
          <p:cNvPr id="11" name="ligação O que vem a seguir"/>
          <p:cNvSpPr/>
          <p:nvPr/>
        </p:nvSpPr>
        <p:spPr>
          <a:xfrm>
            <a:off x="7717536" y="2011680"/>
            <a:ext cx="542239" cy="868680"/>
          </a:xfrm>
          <a:prstGeom prst="line">
            <a:avLst/>
          </a:prstGeom>
          <a:noFill/>
          <a:ln w="15875">
            <a:solidFill>
              <a:srgbClr val="DCE3E1"/>
            </a:solidFill>
            <a:prstDash val="solid"/>
          </a:ln>
        </p:spPr>
      </p:sp>
      <p:sp>
        <p:nvSpPr>
          <p:cNvPr id="12" name="atributo O que vem a seguir"/>
          <p:cNvSpPr/>
          <p:nvPr/>
        </p:nvSpPr>
        <p:spPr>
          <a:xfrm>
            <a:off x="8259775" y="1463040"/>
            <a:ext cx="3383280" cy="1097280"/>
          </a:xfrm>
          <a:prstGeom prst="roundRect">
            <a:avLst>
              <a:gd name="adj" fmla="val 10000"/>
            </a:avLst>
          </a:prstGeom>
          <a:solidFill>
            <a:srgbClr val="F1F4F3"/>
          </a:solidFill>
          <a:ln w="12700">
            <a:solidFill>
              <a:srgbClr val="F1F4F3"/>
            </a:solidFill>
            <a:prstDash val="solid"/>
          </a:ln>
        </p:spPr>
      </p:sp>
      <p:sp>
        <p:nvSpPr>
          <p:cNvPr id="13" name="Text 11"/>
          <p:cNvSpPr txBox="1"/>
          <p:nvPr/>
        </p:nvSpPr>
        <p:spPr>
          <a:xfrm>
            <a:off x="8534095" y="1645920"/>
            <a:ext cx="2834640" cy="365760"/>
          </a:xfrm>
          <a:prstGeom prst="rect">
            <a:avLst/>
          </a:prstGeom>
          <a:noFill/>
          <a:ln/>
        </p:spPr>
        <p:txBody>
          <a:bodyPr wrap="square" lIns="0" tIns="0" rIns="0" bIns="0" rtlCol="0" anchor="t"/>
          <a:lstStyle/>
          <a:p>
            <a:pPr indent="0" marL="0">
              <a:buNone/>
            </a:pPr>
            <a:r>
              <a:rPr lang="en-US" sz="1700" b="1" dirty="0">
                <a:solidFill>
                  <a:srgbClr val="0F2623"/>
                </a:solidFill>
              </a:rPr>
              <a:t>O que vem a seguir</a:t>
            </a:r>
            <a:endParaRPr lang="en-US" sz="1700" dirty="0"/>
          </a:p>
        </p:txBody>
      </p:sp>
      <p:sp>
        <p:nvSpPr>
          <p:cNvPr id="14" name="Text 12"/>
          <p:cNvSpPr txBox="1"/>
          <p:nvPr/>
        </p:nvSpPr>
        <p:spPr>
          <a:xfrm>
            <a:off x="8534095" y="2011680"/>
            <a:ext cx="2834640" cy="457200"/>
          </a:xfrm>
          <a:prstGeom prst="rect">
            <a:avLst/>
          </a:prstGeom>
          <a:noFill/>
          <a:ln/>
        </p:spPr>
        <p:txBody>
          <a:bodyPr wrap="square" lIns="0" tIns="0" rIns="0" bIns="0" rtlCol="0" anchor="t"/>
          <a:lstStyle/>
          <a:p>
            <a:pPr indent="0" marL="0">
              <a:buNone/>
            </a:pPr>
            <a:r>
              <a:rPr lang="en-US" sz="1300" dirty="0">
                <a:solidFill>
                  <a:srgbClr val="4E5F5C"/>
                </a:solidFill>
              </a:rPr>
              <a:t>O que a marca costuma fazer, pelo seu histórico</a:t>
            </a:r>
            <a:endParaRPr lang="en-US" sz="1300" dirty="0"/>
          </a:p>
        </p:txBody>
      </p:sp>
      <p:sp>
        <p:nvSpPr>
          <p:cNvPr id="15" name="ligação Resposta combinada"/>
          <p:cNvSpPr/>
          <p:nvPr/>
        </p:nvSpPr>
        <p:spPr>
          <a:xfrm>
            <a:off x="7717536" y="3474720"/>
            <a:ext cx="542239" cy="-594360"/>
          </a:xfrm>
          <a:prstGeom prst="line">
            <a:avLst/>
          </a:prstGeom>
          <a:noFill/>
          <a:ln w="15875">
            <a:solidFill>
              <a:srgbClr val="DCE3E1"/>
            </a:solidFill>
            <a:prstDash val="solid"/>
          </a:ln>
        </p:spPr>
      </p:sp>
      <p:sp>
        <p:nvSpPr>
          <p:cNvPr id="16" name="atributo Resposta combinada"/>
          <p:cNvSpPr/>
          <p:nvPr/>
        </p:nvSpPr>
        <p:spPr>
          <a:xfrm>
            <a:off x="8259775" y="2926080"/>
            <a:ext cx="3383280" cy="1097280"/>
          </a:xfrm>
          <a:prstGeom prst="roundRect">
            <a:avLst>
              <a:gd name="adj" fmla="val 10000"/>
            </a:avLst>
          </a:prstGeom>
          <a:solidFill>
            <a:srgbClr val="F1F4F3"/>
          </a:solidFill>
          <a:ln w="12700">
            <a:solidFill>
              <a:srgbClr val="F1F4F3"/>
            </a:solidFill>
            <a:prstDash val="solid"/>
          </a:ln>
        </p:spPr>
      </p:sp>
      <p:sp>
        <p:nvSpPr>
          <p:cNvPr id="17" name="Text 15"/>
          <p:cNvSpPr txBox="1"/>
          <p:nvPr/>
        </p:nvSpPr>
        <p:spPr>
          <a:xfrm>
            <a:off x="8534095" y="3108960"/>
            <a:ext cx="2834640" cy="365760"/>
          </a:xfrm>
          <a:prstGeom prst="rect">
            <a:avLst/>
          </a:prstGeom>
          <a:noFill/>
          <a:ln/>
        </p:spPr>
        <p:txBody>
          <a:bodyPr wrap="square" lIns="0" tIns="0" rIns="0" bIns="0" rtlCol="0" anchor="t"/>
          <a:lstStyle/>
          <a:p>
            <a:pPr indent="0" marL="0">
              <a:buNone/>
            </a:pPr>
            <a:r>
              <a:rPr lang="en-US" sz="1700" b="1" dirty="0">
                <a:solidFill>
                  <a:srgbClr val="0F2623"/>
                </a:solidFill>
              </a:rPr>
              <a:t>Resposta combinada</a:t>
            </a:r>
            <a:endParaRPr lang="en-US" sz="1700" dirty="0"/>
          </a:p>
        </p:txBody>
      </p:sp>
      <p:sp>
        <p:nvSpPr>
          <p:cNvPr id="18" name="Text 16"/>
          <p:cNvSpPr txBox="1"/>
          <p:nvPr/>
        </p:nvSpPr>
        <p:spPr>
          <a:xfrm>
            <a:off x="8534095" y="3474720"/>
            <a:ext cx="2834640" cy="457200"/>
          </a:xfrm>
          <a:prstGeom prst="rect">
            <a:avLst/>
          </a:prstGeom>
          <a:noFill/>
          <a:ln/>
        </p:spPr>
        <p:txBody>
          <a:bodyPr wrap="square" lIns="0" tIns="0" rIns="0" bIns="0" rtlCol="0" anchor="t"/>
          <a:lstStyle/>
          <a:p>
            <a:pPr indent="0" marL="0">
              <a:buNone/>
            </a:pPr>
            <a:r>
              <a:rPr lang="en-US" sz="1300" dirty="0">
                <a:solidFill>
                  <a:srgbClr val="4E5F5C"/>
                </a:solidFill>
              </a:rPr>
              <a:t>O que está acordado com o cliente; a equipa ativa</a:t>
            </a:r>
            <a:endParaRPr lang="en-US" sz="1300" dirty="0"/>
          </a:p>
        </p:txBody>
      </p:sp>
      <p:sp>
        <p:nvSpPr>
          <p:cNvPr id="19" name="movimento"/>
          <p:cNvSpPr/>
          <p:nvPr/>
        </p:nvSpPr>
        <p:spPr>
          <a:xfrm>
            <a:off x="4471416" y="1874520"/>
            <a:ext cx="3246120" cy="2011680"/>
          </a:xfrm>
          <a:prstGeom prst="roundRect">
            <a:avLst>
              <a:gd name="adj" fmla="val 5455"/>
            </a:avLst>
          </a:prstGeom>
          <a:solidFill>
            <a:srgbClr val="0F2623"/>
          </a:solidFill>
          <a:ln w="12700">
            <a:solidFill>
              <a:srgbClr val="0F2623"/>
            </a:solidFill>
            <a:prstDash val="solid"/>
          </a:ln>
        </p:spPr>
      </p:sp>
      <p:sp>
        <p:nvSpPr>
          <p:cNvPr id="20" name="Text 18"/>
          <p:cNvSpPr txBox="1"/>
          <p:nvPr/>
        </p:nvSpPr>
        <p:spPr>
          <a:xfrm>
            <a:off x="4745736" y="2148840"/>
            <a:ext cx="2697480" cy="274320"/>
          </a:xfrm>
          <a:prstGeom prst="rect">
            <a:avLst/>
          </a:prstGeom>
          <a:noFill/>
          <a:ln/>
        </p:spPr>
        <p:txBody>
          <a:bodyPr wrap="square" lIns="0" tIns="0" rIns="0" bIns="0" rtlCol="0" anchor="t"/>
          <a:lstStyle/>
          <a:p>
            <a:pPr indent="0" marL="0">
              <a:buNone/>
            </a:pPr>
            <a:r>
              <a:rPr lang="en-US" sz="1200" b="1" spc="150" kern="0" dirty="0">
                <a:solidFill>
                  <a:srgbClr val="F1F4F3"/>
                </a:solidFill>
              </a:rPr>
              <a:t>MOVIMENTO</a:t>
            </a:r>
            <a:endParaRPr lang="en-US" sz="1200" dirty="0"/>
          </a:p>
        </p:txBody>
      </p:sp>
      <p:sp>
        <p:nvSpPr>
          <p:cNvPr id="21" name="Text 19"/>
          <p:cNvSpPr txBox="1"/>
          <p:nvPr/>
        </p:nvSpPr>
        <p:spPr>
          <a:xfrm>
            <a:off x="4745736" y="2514600"/>
            <a:ext cx="2697480" cy="1188720"/>
          </a:xfrm>
          <a:prstGeom prst="rect">
            <a:avLst/>
          </a:prstGeom>
          <a:noFill/>
          <a:ln/>
        </p:spPr>
        <p:txBody>
          <a:bodyPr wrap="square" lIns="0" tIns="0" rIns="0" bIns="0" rtlCol="0" anchor="t"/>
          <a:lstStyle/>
          <a:p>
            <a:pPr indent="0" marL="0">
              <a:buNone/>
            </a:pPr>
            <a:r>
              <a:rPr lang="en-US" sz="1900" b="1" dirty="0">
                <a:solidFill>
                  <a:srgbClr val="FFFFFF"/>
                </a:solidFill>
              </a:rPr>
              <a:t>«A Kaldo baixou 8 cêntimos por litro ao fim de semana»</a:t>
            </a:r>
            <a:endParaRPr lang="en-US" sz="1900" dirty="0"/>
          </a:p>
        </p:txBody>
      </p:sp>
      <p:sp>
        <p:nvSpPr>
          <p:cNvPr id="22" name="área Agora"/>
          <p:cNvSpPr/>
          <p:nvPr/>
        </p:nvSpPr>
        <p:spPr>
          <a:xfrm>
            <a:off x="548640" y="4663440"/>
            <a:ext cx="2072579" cy="1051560"/>
          </a:xfrm>
          <a:prstGeom prst="roundRect">
            <a:avLst>
              <a:gd name="adj" fmla="val 8696"/>
            </a:avLst>
          </a:prstGeom>
          <a:solidFill>
            <a:srgbClr val="FFFFFF"/>
          </a:solidFill>
          <a:ln w="12700">
            <a:solidFill>
              <a:srgbClr val="DCE3E1"/>
            </a:solidFill>
            <a:prstDash val="solid"/>
          </a:ln>
        </p:spPr>
      </p:sp>
      <p:sp>
        <p:nvSpPr>
          <p:cNvPr id="23" name="Text 21"/>
          <p:cNvSpPr txBox="1"/>
          <p:nvPr/>
        </p:nvSpPr>
        <p:spPr>
          <a:xfrm>
            <a:off x="777240" y="4828032"/>
            <a:ext cx="1615379" cy="365760"/>
          </a:xfrm>
          <a:prstGeom prst="rect">
            <a:avLst/>
          </a:prstGeom>
          <a:noFill/>
          <a:ln/>
        </p:spPr>
        <p:txBody>
          <a:bodyPr wrap="square" lIns="0" tIns="0" rIns="0" bIns="0" rtlCol="0" anchor="t"/>
          <a:lstStyle/>
          <a:p>
            <a:pPr indent="0" marL="0">
              <a:buNone/>
            </a:pPr>
            <a:r>
              <a:rPr lang="en-US" sz="1700" b="1" dirty="0">
                <a:solidFill>
                  <a:srgbClr val="0F2623"/>
                </a:solidFill>
              </a:rPr>
              <a:t>Agora</a:t>
            </a:r>
            <a:endParaRPr lang="en-US" sz="1700" dirty="0"/>
          </a:p>
        </p:txBody>
      </p:sp>
      <p:sp>
        <p:nvSpPr>
          <p:cNvPr id="24" name="Text 22"/>
          <p:cNvSpPr txBox="1"/>
          <p:nvPr/>
        </p:nvSpPr>
        <p:spPr>
          <a:xfrm>
            <a:off x="777240" y="5212080"/>
            <a:ext cx="1615379" cy="365760"/>
          </a:xfrm>
          <a:prstGeom prst="rect">
            <a:avLst/>
          </a:prstGeom>
          <a:noFill/>
          <a:ln/>
        </p:spPr>
        <p:txBody>
          <a:bodyPr wrap="square" lIns="0" tIns="0" rIns="0" bIns="0" rtlCol="0" anchor="t"/>
          <a:lstStyle/>
          <a:p>
            <a:pPr indent="0" marL="0">
              <a:buNone/>
            </a:pPr>
            <a:r>
              <a:rPr lang="en-US" sz="1300" dirty="0">
                <a:solidFill>
                  <a:srgbClr val="4E5F5C"/>
                </a:solidFill>
              </a:rPr>
              <a:t>O que mexeu?</a:t>
            </a:r>
            <a:endParaRPr lang="en-US" sz="1300" dirty="0"/>
          </a:p>
        </p:txBody>
      </p:sp>
      <p:sp>
        <p:nvSpPr>
          <p:cNvPr id="25" name="área Concorrentes"/>
          <p:cNvSpPr/>
          <p:nvPr/>
        </p:nvSpPr>
        <p:spPr>
          <a:xfrm>
            <a:off x="2804099" y="4663440"/>
            <a:ext cx="2072579" cy="1051560"/>
          </a:xfrm>
          <a:prstGeom prst="roundRect">
            <a:avLst>
              <a:gd name="adj" fmla="val 8696"/>
            </a:avLst>
          </a:prstGeom>
          <a:solidFill>
            <a:srgbClr val="FFFFFF"/>
          </a:solidFill>
          <a:ln w="12700">
            <a:solidFill>
              <a:srgbClr val="DCE3E1"/>
            </a:solidFill>
            <a:prstDash val="solid"/>
          </a:ln>
        </p:spPr>
      </p:sp>
      <p:sp>
        <p:nvSpPr>
          <p:cNvPr id="26" name="Text 24"/>
          <p:cNvSpPr txBox="1"/>
          <p:nvPr/>
        </p:nvSpPr>
        <p:spPr>
          <a:xfrm>
            <a:off x="3032699" y="4828032"/>
            <a:ext cx="1615379" cy="365760"/>
          </a:xfrm>
          <a:prstGeom prst="rect">
            <a:avLst/>
          </a:prstGeom>
          <a:noFill/>
          <a:ln/>
        </p:spPr>
        <p:txBody>
          <a:bodyPr wrap="square" lIns="0" tIns="0" rIns="0" bIns="0" rtlCol="0" anchor="t"/>
          <a:lstStyle/>
          <a:p>
            <a:pPr indent="0" marL="0">
              <a:buNone/>
            </a:pPr>
            <a:r>
              <a:rPr lang="en-US" sz="1700" b="1" dirty="0">
                <a:solidFill>
                  <a:srgbClr val="0F2623"/>
                </a:solidFill>
              </a:rPr>
              <a:t>Concorrentes</a:t>
            </a:r>
            <a:endParaRPr lang="en-US" sz="1700" dirty="0"/>
          </a:p>
        </p:txBody>
      </p:sp>
      <p:sp>
        <p:nvSpPr>
          <p:cNvPr id="27" name="Text 25"/>
          <p:cNvSpPr txBox="1"/>
          <p:nvPr/>
        </p:nvSpPr>
        <p:spPr>
          <a:xfrm>
            <a:off x="3032699" y="5212080"/>
            <a:ext cx="1615379" cy="365760"/>
          </a:xfrm>
          <a:prstGeom prst="rect">
            <a:avLst/>
          </a:prstGeom>
          <a:noFill/>
          <a:ln/>
        </p:spPr>
        <p:txBody>
          <a:bodyPr wrap="square" lIns="0" tIns="0" rIns="0" bIns="0" rtlCol="0" anchor="t"/>
          <a:lstStyle/>
          <a:p>
            <a:pPr indent="0" marL="0">
              <a:buNone/>
            </a:pPr>
            <a:r>
              <a:rPr lang="en-US" sz="1300" dirty="0">
                <a:solidFill>
                  <a:srgbClr val="4E5F5C"/>
                </a:solidFill>
              </a:rPr>
              <a:t>Como age cada marca?</a:t>
            </a:r>
            <a:endParaRPr lang="en-US" sz="1300" dirty="0"/>
          </a:p>
        </p:txBody>
      </p:sp>
      <p:sp>
        <p:nvSpPr>
          <p:cNvPr id="28" name="área Comparar"/>
          <p:cNvSpPr/>
          <p:nvPr/>
        </p:nvSpPr>
        <p:spPr>
          <a:xfrm>
            <a:off x="5059558" y="4663440"/>
            <a:ext cx="2072579" cy="1051560"/>
          </a:xfrm>
          <a:prstGeom prst="roundRect">
            <a:avLst>
              <a:gd name="adj" fmla="val 8696"/>
            </a:avLst>
          </a:prstGeom>
          <a:solidFill>
            <a:srgbClr val="FFFFFF"/>
          </a:solidFill>
          <a:ln w="12700">
            <a:solidFill>
              <a:srgbClr val="DCE3E1"/>
            </a:solidFill>
            <a:prstDash val="solid"/>
          </a:ln>
        </p:spPr>
      </p:sp>
      <p:sp>
        <p:nvSpPr>
          <p:cNvPr id="29" name="Text 27"/>
          <p:cNvSpPr txBox="1"/>
          <p:nvPr/>
        </p:nvSpPr>
        <p:spPr>
          <a:xfrm>
            <a:off x="5288158" y="4828032"/>
            <a:ext cx="1615379" cy="365760"/>
          </a:xfrm>
          <a:prstGeom prst="rect">
            <a:avLst/>
          </a:prstGeom>
          <a:noFill/>
          <a:ln/>
        </p:spPr>
        <p:txBody>
          <a:bodyPr wrap="square" lIns="0" tIns="0" rIns="0" bIns="0" rtlCol="0" anchor="t"/>
          <a:lstStyle/>
          <a:p>
            <a:pPr indent="0" marL="0">
              <a:buNone/>
            </a:pPr>
            <a:r>
              <a:rPr lang="en-US" sz="1700" b="1" dirty="0">
                <a:solidFill>
                  <a:srgbClr val="0F2623"/>
                </a:solidFill>
              </a:rPr>
              <a:t>Comparar</a:t>
            </a:r>
            <a:endParaRPr lang="en-US" sz="1700" dirty="0"/>
          </a:p>
        </p:txBody>
      </p:sp>
      <p:sp>
        <p:nvSpPr>
          <p:cNvPr id="30" name="Text 28"/>
          <p:cNvSpPr txBox="1"/>
          <p:nvPr/>
        </p:nvSpPr>
        <p:spPr>
          <a:xfrm>
            <a:off x="5288158" y="5212080"/>
            <a:ext cx="1615379" cy="365760"/>
          </a:xfrm>
          <a:prstGeom prst="rect">
            <a:avLst/>
          </a:prstGeom>
          <a:noFill/>
          <a:ln/>
        </p:spPr>
        <p:txBody>
          <a:bodyPr wrap="square" lIns="0" tIns="0" rIns="0" bIns="0" rtlCol="0" anchor="t"/>
          <a:lstStyle/>
          <a:p>
            <a:pPr indent="0" marL="0">
              <a:buNone/>
            </a:pPr>
            <a:r>
              <a:rPr lang="en-US" sz="1300" dirty="0">
                <a:solidFill>
                  <a:srgbClr val="4E5F5C"/>
                </a:solidFill>
              </a:rPr>
              <a:t>Quem pesa mais?</a:t>
            </a:r>
            <a:endParaRPr lang="en-US" sz="1300" dirty="0"/>
          </a:p>
        </p:txBody>
      </p:sp>
      <p:sp>
        <p:nvSpPr>
          <p:cNvPr id="31" name="área Antecipar"/>
          <p:cNvSpPr/>
          <p:nvPr/>
        </p:nvSpPr>
        <p:spPr>
          <a:xfrm>
            <a:off x="7315017" y="4663440"/>
            <a:ext cx="2072579" cy="1051560"/>
          </a:xfrm>
          <a:prstGeom prst="roundRect">
            <a:avLst>
              <a:gd name="adj" fmla="val 8696"/>
            </a:avLst>
          </a:prstGeom>
          <a:solidFill>
            <a:srgbClr val="FFFFFF"/>
          </a:solidFill>
          <a:ln w="12700">
            <a:solidFill>
              <a:srgbClr val="DCE3E1"/>
            </a:solidFill>
            <a:prstDash val="solid"/>
          </a:ln>
        </p:spPr>
      </p:sp>
      <p:sp>
        <p:nvSpPr>
          <p:cNvPr id="32" name="Text 30"/>
          <p:cNvSpPr txBox="1"/>
          <p:nvPr/>
        </p:nvSpPr>
        <p:spPr>
          <a:xfrm>
            <a:off x="7543617" y="4828032"/>
            <a:ext cx="1615379" cy="365760"/>
          </a:xfrm>
          <a:prstGeom prst="rect">
            <a:avLst/>
          </a:prstGeom>
          <a:noFill/>
          <a:ln/>
        </p:spPr>
        <p:txBody>
          <a:bodyPr wrap="square" lIns="0" tIns="0" rIns="0" bIns="0" rtlCol="0" anchor="t"/>
          <a:lstStyle/>
          <a:p>
            <a:pPr indent="0" marL="0">
              <a:buNone/>
            </a:pPr>
            <a:r>
              <a:rPr lang="en-US" sz="1700" b="1" dirty="0">
                <a:solidFill>
                  <a:srgbClr val="0F2623"/>
                </a:solidFill>
              </a:rPr>
              <a:t>Antecipar</a:t>
            </a:r>
            <a:endParaRPr lang="en-US" sz="1700" dirty="0"/>
          </a:p>
        </p:txBody>
      </p:sp>
      <p:sp>
        <p:nvSpPr>
          <p:cNvPr id="33" name="Text 31"/>
          <p:cNvSpPr txBox="1"/>
          <p:nvPr/>
        </p:nvSpPr>
        <p:spPr>
          <a:xfrm>
            <a:off x="7543617" y="5212080"/>
            <a:ext cx="1615379" cy="365760"/>
          </a:xfrm>
          <a:prstGeom prst="rect">
            <a:avLst/>
          </a:prstGeom>
          <a:noFill/>
          <a:ln/>
        </p:spPr>
        <p:txBody>
          <a:bodyPr wrap="square" lIns="0" tIns="0" rIns="0" bIns="0" rtlCol="0" anchor="t"/>
          <a:lstStyle/>
          <a:p>
            <a:pPr indent="0" marL="0">
              <a:buNone/>
            </a:pPr>
            <a:r>
              <a:rPr lang="en-US" sz="1300" dirty="0">
                <a:solidFill>
                  <a:srgbClr val="4E5F5C"/>
                </a:solidFill>
              </a:rPr>
              <a:t>O que vem aí?</a:t>
            </a:r>
            <a:endParaRPr lang="en-US" sz="1300" dirty="0"/>
          </a:p>
        </p:txBody>
      </p:sp>
      <p:sp>
        <p:nvSpPr>
          <p:cNvPr id="34" name="área Respostas"/>
          <p:cNvSpPr/>
          <p:nvPr/>
        </p:nvSpPr>
        <p:spPr>
          <a:xfrm>
            <a:off x="9570476" y="4663440"/>
            <a:ext cx="2072579" cy="1051560"/>
          </a:xfrm>
          <a:prstGeom prst="roundRect">
            <a:avLst>
              <a:gd name="adj" fmla="val 8696"/>
            </a:avLst>
          </a:prstGeom>
          <a:solidFill>
            <a:srgbClr val="FFFFFF"/>
          </a:solidFill>
          <a:ln w="12700">
            <a:solidFill>
              <a:srgbClr val="DCE3E1"/>
            </a:solidFill>
            <a:prstDash val="solid"/>
          </a:ln>
        </p:spPr>
      </p:sp>
      <p:sp>
        <p:nvSpPr>
          <p:cNvPr id="35" name="Text 33"/>
          <p:cNvSpPr txBox="1"/>
          <p:nvPr/>
        </p:nvSpPr>
        <p:spPr>
          <a:xfrm>
            <a:off x="9799076" y="4828032"/>
            <a:ext cx="1615379" cy="365760"/>
          </a:xfrm>
          <a:prstGeom prst="rect">
            <a:avLst/>
          </a:prstGeom>
          <a:noFill/>
          <a:ln/>
        </p:spPr>
        <p:txBody>
          <a:bodyPr wrap="square" lIns="0" tIns="0" rIns="0" bIns="0" rtlCol="0" anchor="t"/>
          <a:lstStyle/>
          <a:p>
            <a:pPr indent="0" marL="0">
              <a:buNone/>
            </a:pPr>
            <a:r>
              <a:rPr lang="en-US" sz="1700" b="1" dirty="0">
                <a:solidFill>
                  <a:srgbClr val="0F2623"/>
                </a:solidFill>
              </a:rPr>
              <a:t>Respostas</a:t>
            </a:r>
            <a:endParaRPr lang="en-US" sz="1700" dirty="0"/>
          </a:p>
        </p:txBody>
      </p:sp>
      <p:sp>
        <p:nvSpPr>
          <p:cNvPr id="36" name="Text 34"/>
          <p:cNvSpPr txBox="1"/>
          <p:nvPr/>
        </p:nvSpPr>
        <p:spPr>
          <a:xfrm>
            <a:off x="9799076" y="5212080"/>
            <a:ext cx="1615379" cy="365760"/>
          </a:xfrm>
          <a:prstGeom prst="rect">
            <a:avLst/>
          </a:prstGeom>
          <a:noFill/>
          <a:ln/>
        </p:spPr>
        <p:txBody>
          <a:bodyPr wrap="square" lIns="0" tIns="0" rIns="0" bIns="0" rtlCol="0" anchor="t"/>
          <a:lstStyle/>
          <a:p>
            <a:pPr indent="0" marL="0">
              <a:buNone/>
            </a:pPr>
            <a:r>
              <a:rPr lang="en-US" sz="1300" dirty="0">
                <a:solidFill>
                  <a:srgbClr val="4E5F5C"/>
                </a:solidFill>
              </a:rPr>
              <a:t>Estamos prontos?</a:t>
            </a:r>
            <a:endParaRPr lang="en-US" sz="1300" dirty="0"/>
          </a:p>
        </p:txBody>
      </p:sp>
      <p:sp>
        <p:nvSpPr>
          <p:cNvPr id="37" name="Text 35"/>
          <p:cNvSpPr txBox="1"/>
          <p:nvPr/>
        </p:nvSpPr>
        <p:spPr>
          <a:xfrm>
            <a:off x="548640" y="5852160"/>
            <a:ext cx="7315200" cy="274320"/>
          </a:xfrm>
          <a:prstGeom prst="rect">
            <a:avLst/>
          </a:prstGeom>
          <a:noFill/>
          <a:ln/>
        </p:spPr>
        <p:txBody>
          <a:bodyPr wrap="square" lIns="0" tIns="0" rIns="0" bIns="0" rtlCol="0" anchor="t"/>
          <a:lstStyle/>
          <a:p>
            <a:pPr indent="0" marL="0">
              <a:buNone/>
            </a:pPr>
            <a:r>
              <a:rPr lang="en-US" sz="1100" i="1" dirty="0">
                <a:solidFill>
                  <a:srgbClr val="4E5F5C"/>
                </a:solidFill>
              </a:rPr>
              <a:t>Mais a Torre (todos os clientes da agência) e as Fontes. A plataforma sugere; a equipa decide.</a:t>
            </a:r>
            <a:endParaRPr lang="en-US" sz="1100" dirty="0"/>
          </a:p>
        </p:txBody>
      </p:sp>
      <p:sp>
        <p:nvSpPr>
          <p:cNvPr id="25" name="Slide Number Placeholder 0"/>
          <p:cNvSpPr>
            <a:spLocks noGrp="1"/>
          </p:cNvSpPr>
          <p:nvPr>
            <p:ph type="sldNum" sz="quarter" idx="4294967295"/>
          </p:nvPr>
        </p:nvSpPr>
        <p:spPr>
          <a:xfrm>
            <a:off x="10454335"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E5F5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rgbClr val="0F2623"/>
                </a:solidFill>
              </a:rPr>
              <a:t>Segunda-feira: o que mexeu, com prova</a:t>
            </a:r>
            <a:endParaRPr lang="en-US" sz="3200" dirty="0"/>
          </a:p>
        </p:txBody>
      </p:sp>
      <p:pic>
        <p:nvPicPr>
          <p:cNvPr id="3" name="Captura do ecrã Agora" descr="Captura do ecrã Agora">    </p:cNvPr>
          <p:cNvPicPr>
            <a:picLocks noChangeAspect="1"/>
          </p:cNvPicPr>
          <p:nvPr/>
        </p:nvPicPr>
        <p:blipFill>
          <a:blip r:embed="rId1"/>
          <a:stretch>
            <a:fillRect/>
          </a:stretch>
        </p:blipFill>
        <p:spPr>
          <a:xfrm>
            <a:off x="548640" y="1371600"/>
            <a:ext cx="7040880" cy="4400550"/>
          </a:xfrm>
          <a:prstGeom prst="rect">
            <a:avLst/>
          </a:prstGeom>
        </p:spPr>
      </p:pic>
      <p:sp>
        <p:nvSpPr>
          <p:cNvPr id="4" name="moldura"/>
          <p:cNvSpPr/>
          <p:nvPr/>
        </p:nvSpPr>
        <p:spPr>
          <a:xfrm>
            <a:off x="548640" y="1371600"/>
            <a:ext cx="7040880" cy="4400550"/>
          </a:xfrm>
          <a:prstGeom prst="roundRect">
            <a:avLst>
              <a:gd name="adj" fmla="val 1247"/>
            </a:avLst>
          </a:prstGeom>
          <a:ln w="12700">
            <a:solidFill>
              <a:srgbClr val="DCE3E1"/>
            </a:solidFill>
            <a:prstDash val="solid"/>
          </a:ln>
        </p:spPr>
      </p:sp>
      <p:sp>
        <p:nvSpPr>
          <p:cNvPr id="5" name="Text 2"/>
          <p:cNvSpPr txBox="1"/>
          <p:nvPr/>
        </p:nvSpPr>
        <p:spPr>
          <a:xfrm>
            <a:off x="548640" y="5863590"/>
            <a:ext cx="7040880" cy="274320"/>
          </a:xfrm>
          <a:prstGeom prst="rect">
            <a:avLst/>
          </a:prstGeom>
          <a:noFill/>
          <a:ln/>
        </p:spPr>
        <p:txBody>
          <a:bodyPr wrap="square" lIns="0" tIns="0" rIns="0" bIns="0" rtlCol="0" anchor="t"/>
          <a:lstStyle/>
          <a:p>
            <a:pPr indent="0" marL="0">
              <a:buNone/>
            </a:pPr>
            <a:r>
              <a:rPr lang="en-US" sz="1100" i="1" dirty="0">
                <a:solidFill>
                  <a:srgbClr val="4E5F5C"/>
                </a:solidFill>
              </a:rPr>
              <a:t>Demonstração com clientes e marcas fictícios (D33). Sem dados reais.</a:t>
            </a:r>
            <a:endParaRPr lang="en-US" sz="1100" dirty="0"/>
          </a:p>
        </p:txBody>
      </p:sp>
      <p:sp>
        <p:nvSpPr>
          <p:cNvPr id="6" name="numero 1"/>
          <p:cNvSpPr/>
          <p:nvPr/>
        </p:nvSpPr>
        <p:spPr>
          <a:xfrm>
            <a:off x="8001000" y="1417320"/>
            <a:ext cx="420624" cy="420624"/>
          </a:xfrm>
          <a:prstGeom prst="ellipse">
            <a:avLst/>
          </a:prstGeom>
          <a:solidFill>
            <a:srgbClr val="0F2623"/>
          </a:solidFill>
          <a:ln w="12700">
            <a:solidFill>
              <a:srgbClr val="0F2623"/>
            </a:solidFill>
            <a:prstDash val="solid"/>
          </a:ln>
        </p:spPr>
      </p:sp>
      <p:sp>
        <p:nvSpPr>
          <p:cNvPr id="7" name="Text 4"/>
          <p:cNvSpPr txBox="1"/>
          <p:nvPr/>
        </p:nvSpPr>
        <p:spPr>
          <a:xfrm>
            <a:off x="8001000" y="1417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8" name="Text 5"/>
          <p:cNvSpPr txBox="1"/>
          <p:nvPr/>
        </p:nvSpPr>
        <p:spPr>
          <a:xfrm>
            <a:off x="8595360" y="1399032"/>
            <a:ext cx="3044952" cy="457200"/>
          </a:xfrm>
          <a:prstGeom prst="rect">
            <a:avLst/>
          </a:prstGeom>
          <a:noFill/>
          <a:ln/>
        </p:spPr>
        <p:txBody>
          <a:bodyPr wrap="square" lIns="0" tIns="0" rIns="0" bIns="0" rtlCol="0" anchor="t"/>
          <a:lstStyle/>
          <a:p>
            <a:pPr indent="0" marL="0">
              <a:buNone/>
            </a:pPr>
            <a:r>
              <a:rPr lang="en-US" sz="1700" b="1" dirty="0">
                <a:solidFill>
                  <a:srgbClr val="0F2623"/>
                </a:solidFill>
              </a:rPr>
              <a:t>O mais importante no topo</a:t>
            </a:r>
            <a:endParaRPr lang="en-US" sz="1700" dirty="0"/>
          </a:p>
        </p:txBody>
      </p:sp>
      <p:sp>
        <p:nvSpPr>
          <p:cNvPr id="9" name="Text 6"/>
          <p:cNvSpPr txBox="1"/>
          <p:nvPr/>
        </p:nvSpPr>
        <p:spPr>
          <a:xfrm>
            <a:off x="8595360" y="1874520"/>
            <a:ext cx="3044952" cy="868680"/>
          </a:xfrm>
          <a:prstGeom prst="rect">
            <a:avLst/>
          </a:prstGeom>
          <a:noFill/>
          <a:ln/>
        </p:spPr>
        <p:txBody>
          <a:bodyPr wrap="square" lIns="0" tIns="0" rIns="0" bIns="0" rtlCol="0" anchor="t"/>
          <a:lstStyle/>
          <a:p>
            <a:pPr indent="0" marL="0">
              <a:buNone/>
            </a:pPr>
            <a:r>
              <a:rPr lang="en-US" sz="1400" dirty="0">
                <a:solidFill>
                  <a:srgbClr val="4E5F5C"/>
                </a:solidFill>
              </a:rPr>
              <a:t>O primeiro ecrã diz logo o que importa e quantos movimentos têm resposta pronta.</a:t>
            </a:r>
            <a:endParaRPr lang="en-US" sz="1400" dirty="0"/>
          </a:p>
        </p:txBody>
      </p:sp>
      <p:sp>
        <p:nvSpPr>
          <p:cNvPr id="10" name="numero 2"/>
          <p:cNvSpPr/>
          <p:nvPr/>
        </p:nvSpPr>
        <p:spPr>
          <a:xfrm>
            <a:off x="8001000" y="2880360"/>
            <a:ext cx="420624" cy="420624"/>
          </a:xfrm>
          <a:prstGeom prst="ellipse">
            <a:avLst/>
          </a:prstGeom>
          <a:solidFill>
            <a:srgbClr val="0F2623"/>
          </a:solidFill>
          <a:ln w="12700">
            <a:solidFill>
              <a:srgbClr val="0F2623"/>
            </a:solidFill>
            <a:prstDash val="solid"/>
          </a:ln>
        </p:spPr>
      </p:sp>
      <p:sp>
        <p:nvSpPr>
          <p:cNvPr id="11" name="Text 8"/>
          <p:cNvSpPr txBox="1"/>
          <p:nvPr/>
        </p:nvSpPr>
        <p:spPr>
          <a:xfrm>
            <a:off x="8001000" y="28803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9"/>
          <p:cNvSpPr txBox="1"/>
          <p:nvPr/>
        </p:nvSpPr>
        <p:spPr>
          <a:xfrm>
            <a:off x="8595360" y="2862072"/>
            <a:ext cx="3044952" cy="457200"/>
          </a:xfrm>
          <a:prstGeom prst="rect">
            <a:avLst/>
          </a:prstGeom>
          <a:noFill/>
          <a:ln/>
        </p:spPr>
        <p:txBody>
          <a:bodyPr wrap="square" lIns="0" tIns="0" rIns="0" bIns="0" rtlCol="0" anchor="t"/>
          <a:lstStyle/>
          <a:p>
            <a:pPr indent="0" marL="0">
              <a:buNone/>
            </a:pPr>
            <a:r>
              <a:rPr lang="en-US" sz="1700" b="1" dirty="0">
                <a:solidFill>
                  <a:srgbClr val="0F2623"/>
                </a:solidFill>
              </a:rPr>
              <a:t>Prova e porquê num clique</a:t>
            </a:r>
            <a:endParaRPr lang="en-US" sz="1700" dirty="0"/>
          </a:p>
        </p:txBody>
      </p:sp>
      <p:sp>
        <p:nvSpPr>
          <p:cNvPr id="13" name="Text 10"/>
          <p:cNvSpPr txBox="1"/>
          <p:nvPr/>
        </p:nvSpPr>
        <p:spPr>
          <a:xfrm>
            <a:off x="8595360" y="3337560"/>
            <a:ext cx="3044952" cy="868680"/>
          </a:xfrm>
          <a:prstGeom prst="rect">
            <a:avLst/>
          </a:prstGeom>
          <a:noFill/>
          <a:ln/>
        </p:spPr>
        <p:txBody>
          <a:bodyPr wrap="square" lIns="0" tIns="0" rIns="0" bIns="0" rtlCol="0" anchor="t"/>
          <a:lstStyle/>
          <a:p>
            <a:pPr indent="0" marL="0">
              <a:buNone/>
            </a:pPr>
            <a:r>
              <a:rPr lang="en-US" sz="1400" dirty="0">
                <a:solidFill>
                  <a:srgbClr val="4E5F5C"/>
                </a:solidFill>
              </a:rPr>
              <a:t>Criativos, série de preço e a soma de pontos que explica a importância.</a:t>
            </a:r>
            <a:endParaRPr lang="en-US" sz="1400" dirty="0"/>
          </a:p>
        </p:txBody>
      </p:sp>
      <p:sp>
        <p:nvSpPr>
          <p:cNvPr id="14" name="numero 3"/>
          <p:cNvSpPr/>
          <p:nvPr/>
        </p:nvSpPr>
        <p:spPr>
          <a:xfrm>
            <a:off x="8001000" y="4343400"/>
            <a:ext cx="420624" cy="420624"/>
          </a:xfrm>
          <a:prstGeom prst="ellipse">
            <a:avLst/>
          </a:prstGeom>
          <a:solidFill>
            <a:srgbClr val="0F2623"/>
          </a:solidFill>
          <a:ln w="12700">
            <a:solidFill>
              <a:srgbClr val="0F2623"/>
            </a:solidFill>
            <a:prstDash val="solid"/>
          </a:ln>
        </p:spPr>
      </p:sp>
      <p:sp>
        <p:nvSpPr>
          <p:cNvPr id="15" name="Text 12"/>
          <p:cNvSpPr txBox="1"/>
          <p:nvPr/>
        </p:nvSpPr>
        <p:spPr>
          <a:xfrm>
            <a:off x="8001000" y="43434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6" name="Text 13"/>
          <p:cNvSpPr txBox="1"/>
          <p:nvPr/>
        </p:nvSpPr>
        <p:spPr>
          <a:xfrm>
            <a:off x="8595360" y="4325112"/>
            <a:ext cx="3044952" cy="457200"/>
          </a:xfrm>
          <a:prstGeom prst="rect">
            <a:avLst/>
          </a:prstGeom>
          <a:noFill/>
          <a:ln/>
        </p:spPr>
        <p:txBody>
          <a:bodyPr wrap="square" lIns="0" tIns="0" rIns="0" bIns="0" rtlCol="0" anchor="t"/>
          <a:lstStyle/>
          <a:p>
            <a:pPr indent="0" marL="0">
              <a:buNone/>
            </a:pPr>
            <a:r>
              <a:rPr lang="en-US" sz="1700" b="1" dirty="0">
                <a:solidFill>
                  <a:srgbClr val="0F2623"/>
                </a:solidFill>
              </a:rPr>
              <a:t>O resumo já vem escrito</a:t>
            </a:r>
            <a:endParaRPr lang="en-US" sz="1700" dirty="0"/>
          </a:p>
        </p:txBody>
      </p:sp>
      <p:sp>
        <p:nvSpPr>
          <p:cNvPr id="17" name="Text 14"/>
          <p:cNvSpPr txBox="1"/>
          <p:nvPr/>
        </p:nvSpPr>
        <p:spPr>
          <a:xfrm>
            <a:off x="8595360" y="4800600"/>
            <a:ext cx="3044952" cy="868680"/>
          </a:xfrm>
          <a:prstGeom prst="rect">
            <a:avLst/>
          </a:prstGeom>
          <a:noFill/>
          <a:ln/>
        </p:spPr>
        <p:txBody>
          <a:bodyPr wrap="square" lIns="0" tIns="0" rIns="0" bIns="0" rtlCol="0" anchor="t"/>
          <a:lstStyle/>
          <a:p>
            <a:pPr indent="0" marL="0">
              <a:buNone/>
            </a:pPr>
            <a:r>
              <a:rPr lang="en-US" sz="1400" dirty="0">
                <a:solidFill>
                  <a:srgbClr val="4E5F5C"/>
                </a:solidFill>
              </a:rPr>
              <a:t>Em 30 segundos, decisões para a equipa e rascunho de email. Fica por rever.</a:t>
            </a:r>
            <a:endParaRPr lang="en-US" sz="1400" dirty="0"/>
          </a:p>
        </p:txBody>
      </p:sp>
      <p:sp>
        <p:nvSpPr>
          <p:cNvPr id="25" name="Slide Number Placeholder 0"/>
          <p:cNvSpPr>
            <a:spLocks noGrp="1"/>
          </p:cNvSpPr>
          <p:nvPr>
            <p:ph type="sldNum" sz="quarter" idx="4294967295"/>
          </p:nvPr>
        </p:nvSpPr>
        <p:spPr>
          <a:xfrm>
            <a:off x="10454335"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E5F5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rgbClr val="0F2623"/>
                </a:solidFill>
              </a:rPr>
              <a:t>Ver o que vem aí, e o choque com o nosso plano</a:t>
            </a:r>
            <a:endParaRPr lang="en-US" sz="3200" dirty="0"/>
          </a:p>
        </p:txBody>
      </p:sp>
      <p:pic>
        <p:nvPicPr>
          <p:cNvPr id="3" name="Captura das próximas 12 semanas" descr="Captura das próximas 12 semanas">    </p:cNvPr>
          <p:cNvPicPr>
            <a:picLocks noChangeAspect="1"/>
          </p:cNvPicPr>
          <p:nvPr/>
        </p:nvPicPr>
        <p:blipFill>
          <a:blip r:embed="rId1"/>
          <a:stretch>
            <a:fillRect/>
          </a:stretch>
        </p:blipFill>
        <p:spPr>
          <a:xfrm>
            <a:off x="548640" y="1325880"/>
            <a:ext cx="10001644" cy="2788920"/>
          </a:xfrm>
          <a:prstGeom prst="rect">
            <a:avLst/>
          </a:prstGeom>
        </p:spPr>
      </p:pic>
      <p:sp>
        <p:nvSpPr>
          <p:cNvPr id="4" name="moldura"/>
          <p:cNvSpPr/>
          <p:nvPr/>
        </p:nvSpPr>
        <p:spPr>
          <a:xfrm>
            <a:off x="548640" y="1325880"/>
            <a:ext cx="10001644" cy="2788920"/>
          </a:xfrm>
          <a:prstGeom prst="roundRect">
            <a:avLst>
              <a:gd name="adj" fmla="val 1967"/>
            </a:avLst>
          </a:prstGeom>
          <a:ln w="12700">
            <a:solidFill>
              <a:srgbClr val="DCE3E1"/>
            </a:solidFill>
            <a:prstDash val="solid"/>
          </a:ln>
        </p:spPr>
      </p:sp>
      <p:sp>
        <p:nvSpPr>
          <p:cNvPr id="5" name="Text 2"/>
          <p:cNvSpPr txBox="1"/>
          <p:nvPr/>
        </p:nvSpPr>
        <p:spPr>
          <a:xfrm>
            <a:off x="548640" y="4187952"/>
            <a:ext cx="11094415" cy="274320"/>
          </a:xfrm>
          <a:prstGeom prst="rect">
            <a:avLst/>
          </a:prstGeom>
          <a:noFill/>
          <a:ln/>
        </p:spPr>
        <p:txBody>
          <a:bodyPr wrap="square" lIns="0" tIns="0" rIns="0" bIns="0" rtlCol="0" anchor="t"/>
          <a:lstStyle/>
          <a:p>
            <a:pPr indent="0" marL="0">
              <a:buNone/>
            </a:pPr>
            <a:r>
              <a:rPr lang="en-US" sz="1100" i="1" dirty="0">
                <a:solidFill>
                  <a:srgbClr val="4E5F5C"/>
                </a:solidFill>
              </a:rPr>
              <a:t>Demonstração com clientes e marcas fictícios (D33). Sem dados reais. Tracejado: o esperado pelo histórico. Última linha: o plano da Vetra.</a:t>
            </a:r>
            <a:endParaRPr lang="en-US" sz="1100" dirty="0"/>
          </a:p>
        </p:txBody>
      </p:sp>
      <p:sp>
        <p:nvSpPr>
          <p:cNvPr id="6" name="Sinal precoce"/>
          <p:cNvSpPr/>
          <p:nvPr/>
        </p:nvSpPr>
        <p:spPr>
          <a:xfrm>
            <a:off x="548640" y="4572000"/>
            <a:ext cx="5410048" cy="1554480"/>
          </a:xfrm>
          <a:prstGeom prst="roundRect">
            <a:avLst>
              <a:gd name="adj" fmla="val 7059"/>
            </a:avLst>
          </a:prstGeom>
          <a:solidFill>
            <a:srgbClr val="F1F4F3"/>
          </a:solidFill>
          <a:ln w="12700">
            <a:solidFill>
              <a:srgbClr val="F1F4F3"/>
            </a:solidFill>
            <a:prstDash val="solid"/>
          </a:ln>
        </p:spPr>
      </p:sp>
      <p:sp>
        <p:nvSpPr>
          <p:cNvPr id="7" name="Text 4"/>
          <p:cNvSpPr txBox="1"/>
          <p:nvPr/>
        </p:nvSpPr>
        <p:spPr>
          <a:xfrm>
            <a:off x="822960" y="4773168"/>
            <a:ext cx="4587088" cy="365760"/>
          </a:xfrm>
          <a:prstGeom prst="rect">
            <a:avLst/>
          </a:prstGeom>
          <a:noFill/>
          <a:ln/>
        </p:spPr>
        <p:txBody>
          <a:bodyPr wrap="square" lIns="0" tIns="0" rIns="0" bIns="0" rtlCol="0" anchor="t"/>
          <a:lstStyle/>
          <a:p>
            <a:pPr indent="0" marL="0">
              <a:buNone/>
            </a:pPr>
            <a:r>
              <a:rPr lang="en-US" sz="1700" b="1" dirty="0">
                <a:solidFill>
                  <a:srgbClr val="0F2623"/>
                </a:solidFill>
              </a:rPr>
              <a:t>Sinal precoce</a:t>
            </a:r>
            <a:endParaRPr lang="en-US" sz="1700" dirty="0"/>
          </a:p>
        </p:txBody>
      </p:sp>
      <p:sp>
        <p:nvSpPr>
          <p:cNvPr id="8" name="Text 5"/>
          <p:cNvSpPr txBox="1"/>
          <p:nvPr/>
        </p:nvSpPr>
        <p:spPr>
          <a:xfrm>
            <a:off x="822960" y="5175504"/>
            <a:ext cx="4861408" cy="822960"/>
          </a:xfrm>
          <a:prstGeom prst="rect">
            <a:avLst/>
          </a:prstGeom>
          <a:noFill/>
          <a:ln/>
        </p:spPr>
        <p:txBody>
          <a:bodyPr wrap="square" lIns="0" tIns="0" rIns="0" bIns="0" rtlCol="0" anchor="t"/>
          <a:lstStyle/>
          <a:p>
            <a:pPr indent="0" marL="0">
              <a:buNone/>
            </a:pPr>
            <a:r>
              <a:rPr lang="en-US" sz="1400" dirty="0">
                <a:solidFill>
                  <a:srgbClr val="4E5F5C"/>
                </a:solidFill>
              </a:rPr>
              <a:t>A Zefira começou a testar criativos com pouco alcance. No histórico, isso antecede a campanha de inverno: a equipa prepara a resposta antes.</a:t>
            </a:r>
            <a:endParaRPr lang="en-US" sz="1400" dirty="0"/>
          </a:p>
        </p:txBody>
      </p:sp>
      <p:sp>
        <p:nvSpPr>
          <p:cNvPr id="9" name="Choque com o plano"/>
          <p:cNvSpPr/>
          <p:nvPr/>
        </p:nvSpPr>
        <p:spPr>
          <a:xfrm>
            <a:off x="6233008" y="4572000"/>
            <a:ext cx="5410048" cy="1554480"/>
          </a:xfrm>
          <a:prstGeom prst="roundRect">
            <a:avLst>
              <a:gd name="adj" fmla="val 7059"/>
            </a:avLst>
          </a:prstGeom>
          <a:solidFill>
            <a:srgbClr val="F1F4F3"/>
          </a:solidFill>
          <a:ln w="12700">
            <a:solidFill>
              <a:srgbClr val="F1F4F3"/>
            </a:solidFill>
            <a:prstDash val="solid"/>
          </a:ln>
        </p:spPr>
      </p:sp>
      <p:sp>
        <p:nvSpPr>
          <p:cNvPr id="10" name="marca de sinal"/>
          <p:cNvSpPr/>
          <p:nvPr/>
        </p:nvSpPr>
        <p:spPr>
          <a:xfrm>
            <a:off x="6507328" y="4873752"/>
            <a:ext cx="146304" cy="146304"/>
          </a:xfrm>
          <a:prstGeom prst="ellipse">
            <a:avLst/>
          </a:prstGeom>
          <a:solidFill>
            <a:srgbClr val="FFDC32"/>
          </a:solidFill>
          <a:ln w="12700">
            <a:solidFill>
              <a:srgbClr val="0F2623"/>
            </a:solidFill>
            <a:prstDash val="solid"/>
          </a:ln>
        </p:spPr>
      </p:sp>
      <p:sp>
        <p:nvSpPr>
          <p:cNvPr id="11" name="Text 8"/>
          <p:cNvSpPr txBox="1"/>
          <p:nvPr/>
        </p:nvSpPr>
        <p:spPr>
          <a:xfrm>
            <a:off x="6763360" y="4773168"/>
            <a:ext cx="4587088" cy="365760"/>
          </a:xfrm>
          <a:prstGeom prst="rect">
            <a:avLst/>
          </a:prstGeom>
          <a:noFill/>
          <a:ln/>
        </p:spPr>
        <p:txBody>
          <a:bodyPr wrap="square" lIns="0" tIns="0" rIns="0" bIns="0" rtlCol="0" anchor="t"/>
          <a:lstStyle/>
          <a:p>
            <a:pPr indent="0" marL="0">
              <a:buNone/>
            </a:pPr>
            <a:r>
              <a:rPr lang="en-US" sz="1700" b="1" dirty="0">
                <a:solidFill>
                  <a:srgbClr val="0F2623"/>
                </a:solidFill>
              </a:rPr>
              <a:t>Choque com o plano</a:t>
            </a:r>
            <a:endParaRPr lang="en-US" sz="1700" dirty="0"/>
          </a:p>
        </p:txBody>
      </p:sp>
      <p:sp>
        <p:nvSpPr>
          <p:cNvPr id="12" name="Text 9"/>
          <p:cNvSpPr txBox="1"/>
          <p:nvPr/>
        </p:nvSpPr>
        <p:spPr>
          <a:xfrm>
            <a:off x="6507328" y="5175504"/>
            <a:ext cx="4861408" cy="822960"/>
          </a:xfrm>
          <a:prstGeom prst="rect">
            <a:avLst/>
          </a:prstGeom>
          <a:noFill/>
          <a:ln/>
        </p:spPr>
        <p:txBody>
          <a:bodyPr wrap="square" lIns="0" tIns="0" rIns="0" bIns="0" rtlCol="0" anchor="t"/>
          <a:lstStyle/>
          <a:p>
            <a:pPr indent="0" marL="0">
              <a:buNone/>
            </a:pPr>
            <a:r>
              <a:rPr lang="en-US" sz="1400" dirty="0">
                <a:solidFill>
                  <a:srgbClr val="4E5F5C"/>
                </a:solidFill>
              </a:rPr>
              <a:t>A «Semana do Preço Certo» da Vetra cai na semana da Black Friday que a Kaldo faz todos os anos, no mesmo território. Ainda há tempo para mudar.</a:t>
            </a:r>
            <a:endParaRPr lang="en-US" sz="1400" dirty="0"/>
          </a:p>
        </p:txBody>
      </p:sp>
      <p:sp>
        <p:nvSpPr>
          <p:cNvPr id="25" name="Slide Number Placeholder 0"/>
          <p:cNvSpPr>
            <a:spLocks noGrp="1"/>
          </p:cNvSpPr>
          <p:nvPr>
            <p:ph type="sldNum" sz="quarter" idx="4294967295"/>
          </p:nvPr>
        </p:nvSpPr>
        <p:spPr>
          <a:xfrm>
            <a:off x="10454335"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E5F5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rgbClr val="0F2623"/>
                </a:solidFill>
              </a:rPr>
              <a:t>A plataforma sugere, a equipa decide</a:t>
            </a:r>
            <a:endParaRPr lang="en-US" sz="3200" dirty="0"/>
          </a:p>
        </p:txBody>
      </p:sp>
      <p:pic>
        <p:nvPicPr>
          <p:cNvPr id="3" name="Captura do resumo da semana" descr="Captura do resumo da semana">    </p:cNvPr>
          <p:cNvPicPr>
            <a:picLocks noChangeAspect="1"/>
          </p:cNvPicPr>
          <p:nvPr/>
        </p:nvPicPr>
        <p:blipFill>
          <a:blip r:embed="rId1"/>
          <a:stretch>
            <a:fillRect/>
          </a:stretch>
        </p:blipFill>
        <p:spPr>
          <a:xfrm>
            <a:off x="548640" y="1371600"/>
            <a:ext cx="4762592" cy="4526280"/>
          </a:xfrm>
          <a:prstGeom prst="rect">
            <a:avLst/>
          </a:prstGeom>
        </p:spPr>
      </p:pic>
      <p:sp>
        <p:nvSpPr>
          <p:cNvPr id="4" name="moldura"/>
          <p:cNvSpPr/>
          <p:nvPr/>
        </p:nvSpPr>
        <p:spPr>
          <a:xfrm>
            <a:off x="548640" y="1371600"/>
            <a:ext cx="4762592" cy="4526280"/>
          </a:xfrm>
          <a:prstGeom prst="roundRect">
            <a:avLst>
              <a:gd name="adj" fmla="val 1212"/>
            </a:avLst>
          </a:prstGeom>
          <a:ln w="12700">
            <a:solidFill>
              <a:srgbClr val="DCE3E1"/>
            </a:solidFill>
            <a:prstDash val="solid"/>
          </a:ln>
        </p:spPr>
      </p:sp>
      <p:sp>
        <p:nvSpPr>
          <p:cNvPr id="5" name="Text 2"/>
          <p:cNvSpPr txBox="1"/>
          <p:nvPr/>
        </p:nvSpPr>
        <p:spPr>
          <a:xfrm>
            <a:off x="548640" y="5971032"/>
            <a:ext cx="11094415" cy="274320"/>
          </a:xfrm>
          <a:prstGeom prst="rect">
            <a:avLst/>
          </a:prstGeom>
          <a:noFill/>
          <a:ln/>
        </p:spPr>
        <p:txBody>
          <a:bodyPr wrap="square" lIns="0" tIns="0" rIns="0" bIns="0" rtlCol="0" anchor="t"/>
          <a:lstStyle/>
          <a:p>
            <a:pPr indent="0" marL="0">
              <a:buNone/>
            </a:pPr>
            <a:r>
              <a:rPr lang="en-US" sz="1100" i="1" dirty="0">
                <a:solidFill>
                  <a:srgbClr val="4E5F5C"/>
                </a:solidFill>
              </a:rPr>
              <a:t>Demonstração com clientes e marcas fictícios (D33). Sem dados reais.</a:t>
            </a:r>
            <a:endParaRPr lang="en-US" sz="1100" dirty="0"/>
          </a:p>
        </p:txBody>
      </p:sp>
      <p:sp>
        <p:nvSpPr>
          <p:cNvPr id="6" name="numero 1"/>
          <p:cNvSpPr/>
          <p:nvPr/>
        </p:nvSpPr>
        <p:spPr>
          <a:xfrm>
            <a:off x="5859872" y="1417320"/>
            <a:ext cx="420624" cy="420624"/>
          </a:xfrm>
          <a:prstGeom prst="ellipse">
            <a:avLst/>
          </a:prstGeom>
          <a:solidFill>
            <a:srgbClr val="0F2623"/>
          </a:solidFill>
          <a:ln w="12700">
            <a:solidFill>
              <a:srgbClr val="0F2623"/>
            </a:solidFill>
            <a:prstDash val="solid"/>
          </a:ln>
        </p:spPr>
      </p:sp>
      <p:sp>
        <p:nvSpPr>
          <p:cNvPr id="7" name="Text 4"/>
          <p:cNvSpPr txBox="1"/>
          <p:nvPr/>
        </p:nvSpPr>
        <p:spPr>
          <a:xfrm>
            <a:off x="5859872" y="1417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8" name="Text 5"/>
          <p:cNvSpPr txBox="1"/>
          <p:nvPr/>
        </p:nvSpPr>
        <p:spPr>
          <a:xfrm>
            <a:off x="6454232" y="1399032"/>
            <a:ext cx="5188823" cy="457200"/>
          </a:xfrm>
          <a:prstGeom prst="rect">
            <a:avLst/>
          </a:prstGeom>
          <a:noFill/>
          <a:ln/>
        </p:spPr>
        <p:txBody>
          <a:bodyPr wrap="square" lIns="0" tIns="0" rIns="0" bIns="0" rtlCol="0" anchor="t"/>
          <a:lstStyle/>
          <a:p>
            <a:pPr indent="0" marL="0">
              <a:buNone/>
            </a:pPr>
            <a:r>
              <a:rPr lang="en-US" sz="1700" b="1" dirty="0">
                <a:solidFill>
                  <a:srgbClr val="0F2623"/>
                </a:solidFill>
              </a:rPr>
              <a:t>Texto da IA sempre por rever</a:t>
            </a:r>
            <a:endParaRPr lang="en-US" sz="1700" dirty="0"/>
          </a:p>
        </p:txBody>
      </p:sp>
      <p:sp>
        <p:nvSpPr>
          <p:cNvPr id="9" name="Text 6"/>
          <p:cNvSpPr txBox="1"/>
          <p:nvPr/>
        </p:nvSpPr>
        <p:spPr>
          <a:xfrm>
            <a:off x="6454232" y="1874520"/>
            <a:ext cx="5188823" cy="868680"/>
          </a:xfrm>
          <a:prstGeom prst="rect">
            <a:avLst/>
          </a:prstGeom>
          <a:noFill/>
          <a:ln/>
        </p:spPr>
        <p:txBody>
          <a:bodyPr wrap="square" lIns="0" tIns="0" rIns="0" bIns="0" rtlCol="0" anchor="t"/>
          <a:lstStyle/>
          <a:p>
            <a:pPr indent="0" marL="0">
              <a:buNone/>
            </a:pPr>
            <a:r>
              <a:rPr lang="en-US" sz="1400" dirty="0">
                <a:solidFill>
                  <a:srgbClr val="4E5F5C"/>
                </a:solidFill>
              </a:rPr>
              <a:t>O resumo e a classificação dos criativos podem ser feitos por IA. Ficam «por rever» até alguém da equipa os rever.</a:t>
            </a:r>
            <a:endParaRPr lang="en-US" sz="1400" dirty="0"/>
          </a:p>
        </p:txBody>
      </p:sp>
      <p:sp>
        <p:nvSpPr>
          <p:cNvPr id="10" name="numero 2"/>
          <p:cNvSpPr/>
          <p:nvPr/>
        </p:nvSpPr>
        <p:spPr>
          <a:xfrm>
            <a:off x="5859872" y="2898648"/>
            <a:ext cx="420624" cy="420624"/>
          </a:xfrm>
          <a:prstGeom prst="ellipse">
            <a:avLst/>
          </a:prstGeom>
          <a:solidFill>
            <a:srgbClr val="0F2623"/>
          </a:solidFill>
          <a:ln w="12700">
            <a:solidFill>
              <a:srgbClr val="0F2623"/>
            </a:solidFill>
            <a:prstDash val="solid"/>
          </a:ln>
        </p:spPr>
      </p:sp>
      <p:sp>
        <p:nvSpPr>
          <p:cNvPr id="11" name="Text 8"/>
          <p:cNvSpPr txBox="1"/>
          <p:nvPr/>
        </p:nvSpPr>
        <p:spPr>
          <a:xfrm>
            <a:off x="5859872" y="289864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9"/>
          <p:cNvSpPr txBox="1"/>
          <p:nvPr/>
        </p:nvSpPr>
        <p:spPr>
          <a:xfrm>
            <a:off x="6454232" y="2880360"/>
            <a:ext cx="5188823" cy="457200"/>
          </a:xfrm>
          <a:prstGeom prst="rect">
            <a:avLst/>
          </a:prstGeom>
          <a:noFill/>
          <a:ln/>
        </p:spPr>
        <p:txBody>
          <a:bodyPr wrap="square" lIns="0" tIns="0" rIns="0" bIns="0" rtlCol="0" anchor="t"/>
          <a:lstStyle/>
          <a:p>
            <a:pPr indent="0" marL="0">
              <a:buNone/>
            </a:pPr>
            <a:r>
              <a:rPr lang="en-US" sz="1700" b="1" dirty="0">
                <a:solidFill>
                  <a:srgbClr val="0F2623"/>
                </a:solidFill>
              </a:rPr>
              <a:t>Nada sai sozinho</a:t>
            </a:r>
            <a:endParaRPr lang="en-US" sz="1700" dirty="0"/>
          </a:p>
        </p:txBody>
      </p:sp>
      <p:sp>
        <p:nvSpPr>
          <p:cNvPr id="13" name="Text 10"/>
          <p:cNvSpPr txBox="1"/>
          <p:nvPr/>
        </p:nvSpPr>
        <p:spPr>
          <a:xfrm>
            <a:off x="6454232" y="3355848"/>
            <a:ext cx="5188823" cy="868680"/>
          </a:xfrm>
          <a:prstGeom prst="rect">
            <a:avLst/>
          </a:prstGeom>
          <a:noFill/>
          <a:ln/>
        </p:spPr>
        <p:txBody>
          <a:bodyPr wrap="square" lIns="0" tIns="0" rIns="0" bIns="0" rtlCol="0" anchor="t"/>
          <a:lstStyle/>
          <a:p>
            <a:pPr indent="0" marL="0">
              <a:buNone/>
            </a:pPr>
            <a:r>
              <a:rPr lang="en-US" sz="1400" dirty="0">
                <a:solidFill>
                  <a:srgbClr val="4E5F5C"/>
                </a:solidFill>
              </a:rPr>
              <a:t>O email para o cliente só se copia depois de revisto e sai assinado pela Arena. A plataforma nunca fala com o cliente.</a:t>
            </a:r>
            <a:endParaRPr lang="en-US" sz="1400" dirty="0"/>
          </a:p>
        </p:txBody>
      </p:sp>
      <p:sp>
        <p:nvSpPr>
          <p:cNvPr id="14" name="numero 3"/>
          <p:cNvSpPr/>
          <p:nvPr/>
        </p:nvSpPr>
        <p:spPr>
          <a:xfrm>
            <a:off x="5859872" y="4379976"/>
            <a:ext cx="420624" cy="420624"/>
          </a:xfrm>
          <a:prstGeom prst="ellipse">
            <a:avLst/>
          </a:prstGeom>
          <a:solidFill>
            <a:srgbClr val="0F2623"/>
          </a:solidFill>
          <a:ln w="12700">
            <a:solidFill>
              <a:srgbClr val="0F2623"/>
            </a:solidFill>
            <a:prstDash val="solid"/>
          </a:ln>
        </p:spPr>
      </p:sp>
      <p:sp>
        <p:nvSpPr>
          <p:cNvPr id="15" name="Text 12"/>
          <p:cNvSpPr txBox="1"/>
          <p:nvPr/>
        </p:nvSpPr>
        <p:spPr>
          <a:xfrm>
            <a:off x="5859872" y="437997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6" name="Text 13"/>
          <p:cNvSpPr txBox="1"/>
          <p:nvPr/>
        </p:nvSpPr>
        <p:spPr>
          <a:xfrm>
            <a:off x="6454232" y="4361688"/>
            <a:ext cx="5188823" cy="457200"/>
          </a:xfrm>
          <a:prstGeom prst="rect">
            <a:avLst/>
          </a:prstGeom>
          <a:noFill/>
          <a:ln/>
        </p:spPr>
        <p:txBody>
          <a:bodyPr wrap="square" lIns="0" tIns="0" rIns="0" bIns="0" rtlCol="0" anchor="t"/>
          <a:lstStyle/>
          <a:p>
            <a:pPr indent="0" marL="0">
              <a:buNone/>
            </a:pPr>
            <a:r>
              <a:rPr lang="en-US" sz="1700" b="1" dirty="0">
                <a:solidFill>
                  <a:srgbClr val="0F2623"/>
                </a:solidFill>
              </a:rPr>
              <a:t>Respostas combinadas de antemão</a:t>
            </a:r>
            <a:endParaRPr lang="en-US" sz="1700" dirty="0"/>
          </a:p>
        </p:txBody>
      </p:sp>
      <p:sp>
        <p:nvSpPr>
          <p:cNvPr id="17" name="Text 14"/>
          <p:cNvSpPr txBox="1"/>
          <p:nvPr/>
        </p:nvSpPr>
        <p:spPr>
          <a:xfrm>
            <a:off x="6454232" y="4837176"/>
            <a:ext cx="5188823" cy="868680"/>
          </a:xfrm>
          <a:prstGeom prst="rect">
            <a:avLst/>
          </a:prstGeom>
          <a:noFill/>
          <a:ln/>
        </p:spPr>
        <p:txBody>
          <a:bodyPr wrap="square" lIns="0" tIns="0" rIns="0" bIns="0" rtlCol="0" anchor="t"/>
          <a:lstStyle/>
          <a:p>
            <a:pPr indent="0" marL="0">
              <a:buNone/>
            </a:pPr>
            <a:r>
              <a:rPr lang="en-US" sz="1400" dirty="0">
                <a:solidFill>
                  <a:srgbClr val="4E5F5C"/>
                </a:solidFill>
              </a:rPr>
              <a:t>O que fazer em cada tipo de movimento fica acordado com o cliente. Quando acontece, a equipa decide ativar.</a:t>
            </a:r>
            <a:endParaRPr lang="en-US" sz="1400" dirty="0"/>
          </a:p>
        </p:txBody>
      </p:sp>
      <p:sp>
        <p:nvSpPr>
          <p:cNvPr id="25" name="Slide Number Placeholder 0"/>
          <p:cNvSpPr>
            <a:spLocks noGrp="1"/>
          </p:cNvSpPr>
          <p:nvPr>
            <p:ph type="sldNum" sz="quarter" idx="4294967295"/>
          </p:nvPr>
        </p:nvSpPr>
        <p:spPr>
          <a:xfrm>
            <a:off x="10454335"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E5F5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rgbClr val="0F2623"/>
                </a:solidFill>
              </a:rPr>
              <a:t>Protótipo completo; dados reais por provar</a:t>
            </a:r>
            <a:endParaRPr lang="en-US" sz="3200" dirty="0"/>
          </a:p>
        </p:txBody>
      </p:sp>
      <p:graphicFrame>
        <p:nvGraphicFramePr>
          <p:cNvPr id="8" name="estado por componente"/>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206240"/>
                <a:gridCol w="1371600"/>
                <a:gridCol w="5516575"/>
              </a:tblGrid>
              <a:tr h="548640">
                <a:tc>
                  <a:txBody>
                    <a:bodyPr/>
                    <a:lstStyle/>
                    <a:p>
                      <a:pPr indent="0" marL="0">
                        <a:buNone/>
                      </a:pPr>
                      <a:r>
                        <a:rPr lang="en-US" sz="1300" b="1" dirty="0">
                          <a:solidFill>
                            <a:srgbClr val="FFFFFF"/>
                          </a:solidFill>
                        </a:rPr>
                        <a:t>Componente</a:t>
                      </a:r>
                      <a:endParaRPr lang="en-US" sz="1300" dirty="0"/>
                    </a:p>
                  </a:txBody>
                  <a:tcPr marL="137160" marR="137160" marT="0" marB="0"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0F2623"/>
                    </a:solidFill>
                  </a:tcPr>
                </a:tc>
                <a:tc>
                  <a:txBody>
                    <a:bodyPr/>
                    <a:lstStyle/>
                    <a:p>
                      <a:pPr indent="0" marL="0">
                        <a:buNone/>
                      </a:pPr>
                      <a:r>
                        <a:rPr lang="en-US" sz="1300" b="1" dirty="0">
                          <a:solidFill>
                            <a:srgbClr val="FFFFFF"/>
                          </a:solidFill>
                        </a:rPr>
                        <a:t>Estado</a:t>
                      </a:r>
                      <a:endParaRPr lang="en-US" sz="1300" dirty="0"/>
                    </a:p>
                  </a:txBody>
                  <a:tcPr marL="137160" marR="137160" marT="0" marB="0"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0F2623"/>
                    </a:solidFill>
                  </a:tcPr>
                </a:tc>
                <a:tc>
                  <a:txBody>
                    <a:bodyPr/>
                    <a:lstStyle/>
                    <a:p>
                      <a:pPr indent="0" marL="0">
                        <a:buNone/>
                      </a:pPr>
                      <a:r>
                        <a:rPr lang="en-US" sz="1300" b="1" dirty="0">
                          <a:solidFill>
                            <a:srgbClr val="FFFFFF"/>
                          </a:solidFill>
                        </a:rPr>
                        <a:t>Nota</a:t>
                      </a:r>
                      <a:endParaRPr lang="en-US" sz="1300" dirty="0"/>
                    </a:p>
                  </a:txBody>
                  <a:tcPr marL="137160" marR="137160" marT="0" marB="0"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0F2623"/>
                    </a:solidFill>
                  </a:tcPr>
                </a:tc>
              </a:tr>
              <a:tr h="548640">
                <a:tc>
                  <a:txBody>
                    <a:bodyPr/>
                    <a:lstStyle/>
                    <a:p>
                      <a:pPr indent="0" marL="0">
                        <a:buNone/>
                      </a:pPr>
                      <a:r>
                        <a:rPr lang="en-US" sz="1400" b="1" dirty="0">
                          <a:solidFill>
                            <a:srgbClr val="0F2623"/>
                          </a:solidFill>
                        </a:rPr>
                        <a:t>Conceito e estrutura</a:t>
                      </a:r>
                      <a:endParaRPr lang="en-US" sz="1400" dirty="0"/>
                    </a:p>
                  </a:txBody>
                  <a:tcPr marL="137160" marR="137160" marT="0" marB="0"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tcPr>
                </a:tc>
                <a:tc>
                  <a:txBody>
                    <a:bodyPr/>
                    <a:lstStyle/>
                    <a:p>
                      <a:pPr indent="0" marL="0">
                        <a:buNone/>
                      </a:pPr>
                      <a:r>
                        <a:rPr lang="en-US" sz="1300" b="1" dirty="0">
                          <a:solidFill>
                            <a:srgbClr val="0B6B58"/>
                          </a:solidFill>
                        </a:rPr>
                        <a:t>Feito</a:t>
                      </a:r>
                      <a:endParaRPr lang="en-US" sz="1300" dirty="0"/>
                    </a:p>
                  </a:txBody>
                  <a:tcPr marL="137160" marR="137160" marT="0" marB="0"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E2F5F0"/>
                    </a:solidFill>
                  </a:tcPr>
                </a:tc>
                <a:tc>
                  <a:txBody>
                    <a:bodyPr/>
                    <a:lstStyle/>
                    <a:p>
                      <a:pPr indent="0" marL="0">
                        <a:buNone/>
                      </a:pPr>
                      <a:r>
                        <a:rPr lang="en-US" sz="1300" dirty="0">
                          <a:solidFill>
                            <a:srgbClr val="4E5F5C"/>
                          </a:solidFill>
                        </a:rPr>
                        <a:t>Especificação fechada para esta fase</a:t>
                      </a:r>
                      <a:endParaRPr lang="en-US" sz="1300" dirty="0"/>
                    </a:p>
                  </a:txBody>
                  <a:tcPr marL="137160" marR="137160" marT="0" marB="0"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tcPr>
                </a:tc>
              </a:tr>
              <a:tr h="548640">
                <a:tc>
                  <a:txBody>
                    <a:bodyPr/>
                    <a:lstStyle/>
                    <a:p>
                      <a:pPr indent="0" marL="0">
                        <a:buNone/>
                      </a:pPr>
                      <a:r>
                        <a:rPr lang="en-US" sz="1400" b="1" dirty="0">
                          <a:solidFill>
                            <a:srgbClr val="0F2623"/>
                          </a:solidFill>
                        </a:rPr>
                        <a:t>Protótipo de demonstração</a:t>
                      </a:r>
                      <a:endParaRPr lang="en-US" sz="1400" dirty="0"/>
                    </a:p>
                  </a:txBody>
                  <a:tcPr marL="137160" marR="137160" marT="0" marB="0"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tcPr>
                </a:tc>
                <a:tc>
                  <a:txBody>
                    <a:bodyPr/>
                    <a:lstStyle/>
                    <a:p>
                      <a:pPr indent="0" marL="0">
                        <a:buNone/>
                      </a:pPr>
                      <a:r>
                        <a:rPr lang="en-US" sz="1300" b="1" dirty="0">
                          <a:solidFill>
                            <a:srgbClr val="0B6B58"/>
                          </a:solidFill>
                        </a:rPr>
                        <a:t>Feito</a:t>
                      </a:r>
                      <a:endParaRPr lang="en-US" sz="1300" dirty="0"/>
                    </a:p>
                  </a:txBody>
                  <a:tcPr marL="137160" marR="137160" marT="0" marB="0"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E2F5F0"/>
                    </a:solidFill>
                  </a:tcPr>
                </a:tc>
                <a:tc>
                  <a:txBody>
                    <a:bodyPr/>
                    <a:lstStyle/>
                    <a:p>
                      <a:pPr indent="0" marL="0">
                        <a:buNone/>
                      </a:pPr>
                      <a:r>
                        <a:rPr lang="en-US" sz="1300" dirty="0">
                          <a:solidFill>
                            <a:srgbClr val="4E5F5C"/>
                          </a:solidFill>
                        </a:rPr>
                        <a:t>2 clientes fictícios, roteiro, telemóvel, contraste AA</a:t>
                      </a:r>
                      <a:endParaRPr lang="en-US" sz="1300" dirty="0"/>
                    </a:p>
                  </a:txBody>
                  <a:tcPr marL="137160" marR="137160" marT="0" marB="0"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tcPr>
                </a:tc>
              </a:tr>
              <a:tr h="548640">
                <a:tc>
                  <a:txBody>
                    <a:bodyPr/>
                    <a:lstStyle/>
                    <a:p>
                      <a:pPr indent="0" marL="0">
                        <a:buNone/>
                      </a:pPr>
                      <a:r>
                        <a:rPr lang="en-US" sz="1400" b="1" dirty="0">
                          <a:solidFill>
                            <a:srgbClr val="0F2623"/>
                          </a:solidFill>
                        </a:rPr>
                        <a:t>Deteção, previsões e choques</a:t>
                      </a:r>
                      <a:endParaRPr lang="en-US" sz="1400" dirty="0"/>
                    </a:p>
                  </a:txBody>
                  <a:tcPr marL="137160" marR="137160" marT="0" marB="0"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tcPr>
                </a:tc>
                <a:tc>
                  <a:txBody>
                    <a:bodyPr/>
                    <a:lstStyle/>
                    <a:p>
                      <a:pPr indent="0" marL="0">
                        <a:buNone/>
                      </a:pPr>
                      <a:r>
                        <a:rPr lang="en-US" sz="1300" b="1" dirty="0">
                          <a:solidFill>
                            <a:srgbClr val="5E4B00"/>
                          </a:solidFill>
                        </a:rPr>
                        <a:t>Em curso</a:t>
                      </a:r>
                      <a:endParaRPr lang="en-US" sz="1300" dirty="0"/>
                    </a:p>
                  </a:txBody>
                  <a:tcPr marL="137160" marR="137160" marT="0" marB="0"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FF5C7"/>
                    </a:solidFill>
                  </a:tcPr>
                </a:tc>
                <a:tc>
                  <a:txBody>
                    <a:bodyPr/>
                    <a:lstStyle/>
                    <a:p>
                      <a:pPr indent="0" marL="0">
                        <a:buNone/>
                      </a:pPr>
                      <a:r>
                        <a:rPr lang="en-US" sz="1300" dirty="0">
                          <a:solidFill>
                            <a:srgbClr val="4E5F5C"/>
                          </a:solidFill>
                        </a:rPr>
                        <a:t>Métodos prontos; por provar com dados reais</a:t>
                      </a:r>
                      <a:endParaRPr lang="en-US" sz="1300" dirty="0"/>
                    </a:p>
                  </a:txBody>
                  <a:tcPr marL="137160" marR="137160" marT="0" marB="0"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tcPr>
                </a:tc>
              </a:tr>
              <a:tr h="548640">
                <a:tc>
                  <a:txBody>
                    <a:bodyPr/>
                    <a:lstStyle/>
                    <a:p>
                      <a:pPr indent="0" marL="0">
                        <a:buNone/>
                      </a:pPr>
                      <a:r>
                        <a:rPr lang="en-US" sz="1400" b="1" dirty="0">
                          <a:solidFill>
                            <a:srgbClr val="0F2623"/>
                          </a:solidFill>
                        </a:rPr>
                        <a:t>Resumo e classificação por IA</a:t>
                      </a:r>
                      <a:endParaRPr lang="en-US" sz="1400" dirty="0"/>
                    </a:p>
                  </a:txBody>
                  <a:tcPr marL="137160" marR="137160" marT="0" marB="0"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tcPr>
                </a:tc>
                <a:tc>
                  <a:txBody>
                    <a:bodyPr/>
                    <a:lstStyle/>
                    <a:p>
                      <a:pPr indent="0" marL="0">
                        <a:buNone/>
                      </a:pPr>
                      <a:r>
                        <a:rPr lang="en-US" sz="1300" b="1" dirty="0">
                          <a:solidFill>
                            <a:srgbClr val="5E4B00"/>
                          </a:solidFill>
                        </a:rPr>
                        <a:t>Em curso</a:t>
                      </a:r>
                      <a:endParaRPr lang="en-US" sz="1300" dirty="0"/>
                    </a:p>
                  </a:txBody>
                  <a:tcPr marL="137160" marR="137160" marT="0" marB="0"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FF5C7"/>
                    </a:solidFill>
                  </a:tcPr>
                </a:tc>
                <a:tc>
                  <a:txBody>
                    <a:bodyPr/>
                    <a:lstStyle/>
                    <a:p>
                      <a:pPr indent="0" marL="0">
                        <a:buNone/>
                      </a:pPr>
                      <a:r>
                        <a:rPr lang="en-US" sz="1300" dirty="0">
                          <a:solidFill>
                            <a:srgbClr val="4E5F5C"/>
                          </a:solidFill>
                        </a:rPr>
                        <a:t>Por regras na demonstração; IA depende de IT e Compliance</a:t>
                      </a:r>
                      <a:endParaRPr lang="en-US" sz="1300" dirty="0"/>
                    </a:p>
                  </a:txBody>
                  <a:tcPr marL="137160" marR="137160" marT="0" marB="0"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tcPr>
                </a:tc>
              </a:tr>
              <a:tr h="548640">
                <a:tc>
                  <a:txBody>
                    <a:bodyPr/>
                    <a:lstStyle/>
                    <a:p>
                      <a:pPr indent="0" marL="0">
                        <a:buNone/>
                      </a:pPr>
                      <a:r>
                        <a:rPr lang="en-US" sz="1400" b="1" dirty="0">
                          <a:solidFill>
                            <a:srgbClr val="0F2623"/>
                          </a:solidFill>
                        </a:rPr>
                        <a:t>Recolha de dados reais</a:t>
                      </a:r>
                      <a:endParaRPr lang="en-US" sz="1400" dirty="0"/>
                    </a:p>
                  </a:txBody>
                  <a:tcPr marL="137160" marR="137160" marT="0" marB="0"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tcPr>
                </a:tc>
                <a:tc>
                  <a:txBody>
                    <a:bodyPr/>
                    <a:lstStyle/>
                    <a:p>
                      <a:pPr indent="0" marL="0">
                        <a:buNone/>
                      </a:pPr>
                      <a:r>
                        <a:rPr lang="en-US" sz="1300" b="1" dirty="0">
                          <a:solidFill>
                            <a:srgbClr val="4E5F5C"/>
                          </a:solidFill>
                        </a:rPr>
                        <a:t>Por fazer</a:t>
                      </a:r>
                      <a:endParaRPr lang="en-US" sz="1300" dirty="0"/>
                    </a:p>
                  </a:txBody>
                  <a:tcPr marL="137160" marR="137160" marT="0" marB="0"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1F4F3"/>
                    </a:solidFill>
                  </a:tcPr>
                </a:tc>
                <a:tc>
                  <a:txBody>
                    <a:bodyPr/>
                    <a:lstStyle/>
                    <a:p>
                      <a:pPr indent="0" marL="0">
                        <a:buNone/>
                      </a:pPr>
                      <a:r>
                        <a:rPr lang="en-US" sz="1300" dirty="0">
                          <a:solidFill>
                            <a:srgbClr val="4E5F5C"/>
                          </a:solidFill>
                        </a:rPr>
                        <a:t>Pontos de entrada marcados; termos de uso por validar</a:t>
                      </a:r>
                      <a:endParaRPr lang="en-US" sz="1300" dirty="0"/>
                    </a:p>
                  </a:txBody>
                  <a:tcPr marL="137160" marR="137160" marT="0" marB="0"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tcPr>
                </a:tc>
              </a:tr>
              <a:tr h="548640">
                <a:tc>
                  <a:txBody>
                    <a:bodyPr/>
                    <a:lstStyle/>
                    <a:p>
                      <a:pPr indent="0" marL="0">
                        <a:buNone/>
                      </a:pPr>
                      <a:r>
                        <a:rPr lang="en-US" sz="1400" b="1" dirty="0">
                          <a:solidFill>
                            <a:srgbClr val="0F2623"/>
                          </a:solidFill>
                        </a:rPr>
                        <a:t>Dados do cliente (pesquisa, plano)</a:t>
                      </a:r>
                      <a:endParaRPr lang="en-US" sz="1400" dirty="0"/>
                    </a:p>
                  </a:txBody>
                  <a:tcPr marL="137160" marR="137160" marT="0" marB="0"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tcPr>
                </a:tc>
                <a:tc>
                  <a:txBody>
                    <a:bodyPr/>
                    <a:lstStyle/>
                    <a:p>
                      <a:pPr indent="0" marL="0">
                        <a:buNone/>
                      </a:pPr>
                      <a:r>
                        <a:rPr lang="en-US" sz="1300" b="1" dirty="0">
                          <a:solidFill>
                            <a:srgbClr val="4E5F5C"/>
                          </a:solidFill>
                        </a:rPr>
                        <a:t>Por fazer</a:t>
                      </a:r>
                      <a:endParaRPr lang="en-US" sz="1300" dirty="0"/>
                    </a:p>
                  </a:txBody>
                  <a:tcPr marL="137160" marR="137160" marT="0" marB="0"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1F4F3"/>
                    </a:solidFill>
                  </a:tcPr>
                </a:tc>
                <a:tc>
                  <a:txBody>
                    <a:bodyPr/>
                    <a:lstStyle/>
                    <a:p>
                      <a:pPr indent="0" marL="0">
                        <a:buNone/>
                      </a:pPr>
                      <a:r>
                        <a:rPr lang="en-US" sz="1300" dirty="0">
                          <a:solidFill>
                            <a:srgbClr val="4E5F5C"/>
                          </a:solidFill>
                        </a:rPr>
                        <a:t>Com autorização do cliente; ficam na agência</a:t>
                      </a:r>
                      <a:endParaRPr lang="en-US" sz="1300" dirty="0"/>
                    </a:p>
                  </a:txBody>
                  <a:tcPr marL="137160" marR="137160" marT="0" marB="0"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tcPr>
                </a:tc>
              </a:tr>
              <a:tr h="548640">
                <a:tc>
                  <a:txBody>
                    <a:bodyPr/>
                    <a:lstStyle/>
                    <a:p>
                      <a:pPr indent="0" marL="0">
                        <a:buNone/>
                      </a:pPr>
                      <a:r>
                        <a:rPr lang="en-US" sz="1400" b="1" dirty="0">
                          <a:solidFill>
                            <a:srgbClr val="0F2623"/>
                          </a:solidFill>
                        </a:rPr>
                        <a:t>Partilha na equipa e stack</a:t>
                      </a:r>
                      <a:endParaRPr lang="en-US" sz="1400" dirty="0"/>
                    </a:p>
                  </a:txBody>
                  <a:tcPr marL="137160" marR="137160" marT="0" marB="0"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tcPr>
                </a:tc>
                <a:tc>
                  <a:txBody>
                    <a:bodyPr/>
                    <a:lstStyle/>
                    <a:p>
                      <a:pPr indent="0" marL="0">
                        <a:buNone/>
                      </a:pPr>
                      <a:r>
                        <a:rPr lang="en-US" sz="1300" b="1" dirty="0">
                          <a:solidFill>
                            <a:srgbClr val="4E5F5C"/>
                          </a:solidFill>
                        </a:rPr>
                        <a:t>Por fazer</a:t>
                      </a:r>
                      <a:endParaRPr lang="en-US" sz="1300" dirty="0"/>
                    </a:p>
                  </a:txBody>
                  <a:tcPr marL="137160" marR="137160" marT="0" marB="0"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1F4F3"/>
                    </a:solidFill>
                  </a:tcPr>
                </a:tc>
                <a:tc>
                  <a:txBody>
                    <a:bodyPr/>
                    <a:lstStyle/>
                    <a:p>
                      <a:pPr indent="0" marL="0">
                        <a:buNone/>
                      </a:pPr>
                      <a:r>
                        <a:rPr lang="en-US" sz="1300" dirty="0">
                          <a:solidFill>
                            <a:srgbClr val="4E5F5C"/>
                          </a:solidFill>
                        </a:rPr>
                        <a:t>Decisão com o IT</a:t>
                      </a:r>
                      <a:endParaRPr lang="en-US" sz="1300" dirty="0"/>
                    </a:p>
                  </a:txBody>
                  <a:tcPr marL="137160" marR="137160" marT="0" marB="0"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tcPr>
                </a:tc>
              </a:tr>
            </a:tbl>
          </a:graphicData>
        </a:graphic>
      </p:graphicFrame>
      <p:sp>
        <p:nvSpPr>
          <p:cNvPr id="4" name="Text 1"/>
          <p:cNvSpPr txBox="1"/>
          <p:nvPr/>
        </p:nvSpPr>
        <p:spPr>
          <a:xfrm>
            <a:off x="548640" y="5897880"/>
            <a:ext cx="11094415" cy="274320"/>
          </a:xfrm>
          <a:prstGeom prst="rect">
            <a:avLst/>
          </a:prstGeom>
          <a:noFill/>
          <a:ln/>
        </p:spPr>
        <p:txBody>
          <a:bodyPr wrap="square" lIns="0" tIns="0" rIns="0" bIns="0" rtlCol="0" anchor="t"/>
          <a:lstStyle/>
          <a:p>
            <a:pPr indent="0" marL="0">
              <a:buNone/>
            </a:pPr>
            <a:r>
              <a:rPr lang="en-US" sz="1100" i="1" dirty="0">
                <a:solidFill>
                  <a:srgbClr val="4E5F5C"/>
                </a:solidFill>
              </a:rPr>
              <a:t>Detalhe em docs/00-ponto-de-situacao.md e no dossier (docs/dossier/).</a:t>
            </a:r>
            <a:endParaRPr lang="en-US" sz="1100" dirty="0"/>
          </a:p>
        </p:txBody>
      </p:sp>
      <p:sp>
        <p:nvSpPr>
          <p:cNvPr id="25" name="Slide Number Placeholder 0"/>
          <p:cNvSpPr>
            <a:spLocks noGrp="1"/>
          </p:cNvSpPr>
          <p:nvPr>
            <p:ph type="sldNum" sz="quarter" idx="4294967295"/>
          </p:nvPr>
        </p:nvSpPr>
        <p:spPr>
          <a:xfrm>
            <a:off x="10454335"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E5F5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rgbClr val="0F2623"/>
                </a:solidFill>
              </a:rPr>
              <a:t>Provar com dados reais antes de investir</a:t>
            </a:r>
            <a:endParaRPr lang="en-US" sz="3200" dirty="0"/>
          </a:p>
        </p:txBody>
      </p:sp>
      <p:sp>
        <p:nvSpPr>
          <p:cNvPr id="3" name="fase 1"/>
          <p:cNvSpPr/>
          <p:nvPr/>
        </p:nvSpPr>
        <p:spPr>
          <a:xfrm>
            <a:off x="548640" y="1371600"/>
            <a:ext cx="2602154" cy="2331720"/>
          </a:xfrm>
          <a:prstGeom prst="roundRect">
            <a:avLst>
              <a:gd name="adj" fmla="val 4706"/>
            </a:avLst>
          </a:prstGeom>
          <a:solidFill>
            <a:srgbClr val="F1F4F3"/>
          </a:solidFill>
          <a:ln w="12700">
            <a:solidFill>
              <a:srgbClr val="F1F4F3"/>
            </a:solidFill>
            <a:prstDash val="solid"/>
          </a:ln>
        </p:spPr>
      </p:sp>
      <p:sp>
        <p:nvSpPr>
          <p:cNvPr id="4" name="Text 2"/>
          <p:cNvSpPr txBox="1"/>
          <p:nvPr/>
        </p:nvSpPr>
        <p:spPr>
          <a:xfrm>
            <a:off x="804672" y="1572768"/>
            <a:ext cx="2090090" cy="274320"/>
          </a:xfrm>
          <a:prstGeom prst="rect">
            <a:avLst/>
          </a:prstGeom>
          <a:noFill/>
          <a:ln/>
        </p:spPr>
        <p:txBody>
          <a:bodyPr wrap="square" lIns="0" tIns="0" rIns="0" bIns="0" rtlCol="0" anchor="t"/>
          <a:lstStyle/>
          <a:p>
            <a:pPr indent="0" marL="0">
              <a:buNone/>
            </a:pPr>
            <a:r>
              <a:rPr lang="en-US" sz="1200" b="1" dirty="0">
                <a:solidFill>
                  <a:srgbClr val="4E5F5C"/>
                </a:solidFill>
              </a:rPr>
              <a:t>2 semanas</a:t>
            </a:r>
            <a:endParaRPr lang="en-US" sz="1200" dirty="0"/>
          </a:p>
        </p:txBody>
      </p:sp>
      <p:sp>
        <p:nvSpPr>
          <p:cNvPr id="5" name="Text 3"/>
          <p:cNvSpPr txBox="1"/>
          <p:nvPr/>
        </p:nvSpPr>
        <p:spPr>
          <a:xfrm>
            <a:off x="804672" y="1847088"/>
            <a:ext cx="2090090" cy="365760"/>
          </a:xfrm>
          <a:prstGeom prst="rect">
            <a:avLst/>
          </a:prstGeom>
          <a:noFill/>
          <a:ln/>
        </p:spPr>
        <p:txBody>
          <a:bodyPr wrap="square" lIns="0" tIns="0" rIns="0" bIns="0" rtlCol="0" anchor="t"/>
          <a:lstStyle/>
          <a:p>
            <a:pPr indent="0" marL="0">
              <a:buNone/>
            </a:pPr>
            <a:r>
              <a:rPr lang="en-US" sz="1800" b="1" dirty="0">
                <a:solidFill>
                  <a:srgbClr val="0F2623"/>
                </a:solidFill>
              </a:rPr>
              <a:t>Teste real</a:t>
            </a:r>
            <a:endParaRPr lang="en-US" sz="1800" dirty="0"/>
          </a:p>
        </p:txBody>
      </p:sp>
      <p:sp>
        <p:nvSpPr>
          <p:cNvPr id="6" name="Text 4"/>
          <p:cNvSpPr txBox="1"/>
          <p:nvPr/>
        </p:nvSpPr>
        <p:spPr>
          <a:xfrm>
            <a:off x="804672" y="2286000"/>
            <a:ext cx="2090090" cy="1325880"/>
          </a:xfrm>
          <a:prstGeom prst="rect">
            <a:avLst/>
          </a:prstGeom>
          <a:noFill/>
          <a:ln/>
        </p:spPr>
        <p:txBody>
          <a:bodyPr wrap="square" lIns="0" tIns="0" rIns="0" bIns="0" rtlCol="0" anchor="t"/>
          <a:lstStyle/>
          <a:p>
            <a:pPr indent="0" marL="0">
              <a:buNone/>
            </a:pPr>
            <a:r>
              <a:rPr lang="en-US" sz="1300" dirty="0">
                <a:solidFill>
                  <a:srgbClr val="4E5F5C"/>
                </a:solidFill>
              </a:rPr>
              <a:t>1 vertical, cerca de 6 marcas, só fontes públicas. Que parte dos movimentos vemos, com que atraso e qualidade.</a:t>
            </a:r>
            <a:endParaRPr lang="en-US" sz="1300" dirty="0"/>
          </a:p>
        </p:txBody>
      </p:sp>
      <p:sp>
        <p:nvSpPr>
          <p:cNvPr id="7" name="seta 1"/>
          <p:cNvSpPr/>
          <p:nvPr/>
        </p:nvSpPr>
        <p:spPr>
          <a:xfrm>
            <a:off x="3210230" y="2432304"/>
            <a:ext cx="109728" cy="219456"/>
          </a:xfrm>
          <a:prstGeom prst="chevron">
            <a:avLst/>
          </a:prstGeom>
          <a:solidFill>
            <a:srgbClr val="4E5F5C"/>
          </a:solidFill>
          <a:ln w="12700">
            <a:solidFill>
              <a:srgbClr val="4E5F5C"/>
            </a:solidFill>
            <a:prstDash val="solid"/>
          </a:ln>
        </p:spPr>
      </p:sp>
      <p:sp>
        <p:nvSpPr>
          <p:cNvPr id="8" name="fase 2"/>
          <p:cNvSpPr/>
          <p:nvPr/>
        </p:nvSpPr>
        <p:spPr>
          <a:xfrm>
            <a:off x="3379394" y="1371600"/>
            <a:ext cx="2602154" cy="2331720"/>
          </a:xfrm>
          <a:prstGeom prst="roundRect">
            <a:avLst>
              <a:gd name="adj" fmla="val 4706"/>
            </a:avLst>
          </a:prstGeom>
          <a:solidFill>
            <a:srgbClr val="F1F4F3"/>
          </a:solidFill>
          <a:ln w="12700">
            <a:solidFill>
              <a:srgbClr val="F1F4F3"/>
            </a:solidFill>
            <a:prstDash val="solid"/>
          </a:ln>
        </p:spPr>
      </p:sp>
      <p:sp>
        <p:nvSpPr>
          <p:cNvPr id="9" name="Text 7"/>
          <p:cNvSpPr txBox="1"/>
          <p:nvPr/>
        </p:nvSpPr>
        <p:spPr>
          <a:xfrm>
            <a:off x="3635426" y="1572768"/>
            <a:ext cx="2090090" cy="274320"/>
          </a:xfrm>
          <a:prstGeom prst="rect">
            <a:avLst/>
          </a:prstGeom>
          <a:noFill/>
          <a:ln/>
        </p:spPr>
        <p:txBody>
          <a:bodyPr wrap="square" lIns="0" tIns="0" rIns="0" bIns="0" rtlCol="0" anchor="t"/>
          <a:lstStyle/>
          <a:p>
            <a:pPr indent="0" marL="0">
              <a:buNone/>
            </a:pPr>
            <a:r>
              <a:rPr lang="en-US" sz="1200" b="1" dirty="0">
                <a:solidFill>
                  <a:srgbClr val="4E5F5C"/>
                </a:solidFill>
              </a:rPr>
              <a:t>semanas 1 a 3</a:t>
            </a:r>
            <a:endParaRPr lang="en-US" sz="1200" dirty="0"/>
          </a:p>
        </p:txBody>
      </p:sp>
      <p:sp>
        <p:nvSpPr>
          <p:cNvPr id="10" name="Text 8"/>
          <p:cNvSpPr txBox="1"/>
          <p:nvPr/>
        </p:nvSpPr>
        <p:spPr>
          <a:xfrm>
            <a:off x="3635426" y="1847088"/>
            <a:ext cx="2090090" cy="365760"/>
          </a:xfrm>
          <a:prstGeom prst="rect">
            <a:avLst/>
          </a:prstGeom>
          <a:noFill/>
          <a:ln/>
        </p:spPr>
        <p:txBody>
          <a:bodyPr wrap="square" lIns="0" tIns="0" rIns="0" bIns="0" rtlCol="0" anchor="t"/>
          <a:lstStyle/>
          <a:p>
            <a:pPr indent="0" marL="0">
              <a:buNone/>
            </a:pPr>
            <a:r>
              <a:rPr lang="en-US" sz="1800" b="1" dirty="0">
                <a:solidFill>
                  <a:srgbClr val="0F2623"/>
                </a:solidFill>
              </a:rPr>
              <a:t>Piloto em sombra</a:t>
            </a:r>
            <a:endParaRPr lang="en-US" sz="1800" dirty="0"/>
          </a:p>
        </p:txBody>
      </p:sp>
      <p:sp>
        <p:nvSpPr>
          <p:cNvPr id="11" name="Text 9"/>
          <p:cNvSpPr txBox="1"/>
          <p:nvPr/>
        </p:nvSpPr>
        <p:spPr>
          <a:xfrm>
            <a:off x="3635426" y="2286000"/>
            <a:ext cx="2090090" cy="1325880"/>
          </a:xfrm>
          <a:prstGeom prst="rect">
            <a:avLst/>
          </a:prstGeom>
          <a:noFill/>
          <a:ln/>
        </p:spPr>
        <p:txBody>
          <a:bodyPr wrap="square" lIns="0" tIns="0" rIns="0" bIns="0" rtlCol="0" anchor="t"/>
          <a:lstStyle/>
          <a:p>
            <a:pPr indent="0" marL="0">
              <a:buNone/>
            </a:pPr>
            <a:r>
              <a:rPr lang="en-US" sz="1300" dirty="0">
                <a:solidFill>
                  <a:srgbClr val="4E5F5C"/>
                </a:solidFill>
              </a:rPr>
              <a:t>O Radar corre; a equipa compara com o que já sabia e regista o que viu primeiro.</a:t>
            </a:r>
            <a:endParaRPr lang="en-US" sz="1300" dirty="0"/>
          </a:p>
        </p:txBody>
      </p:sp>
      <p:sp>
        <p:nvSpPr>
          <p:cNvPr id="12" name="seta 2"/>
          <p:cNvSpPr/>
          <p:nvPr/>
        </p:nvSpPr>
        <p:spPr>
          <a:xfrm>
            <a:off x="6040984" y="2432304"/>
            <a:ext cx="109728" cy="219456"/>
          </a:xfrm>
          <a:prstGeom prst="chevron">
            <a:avLst/>
          </a:prstGeom>
          <a:solidFill>
            <a:srgbClr val="4E5F5C"/>
          </a:solidFill>
          <a:ln w="12700">
            <a:solidFill>
              <a:srgbClr val="4E5F5C"/>
            </a:solidFill>
            <a:prstDash val="solid"/>
          </a:ln>
        </p:spPr>
      </p:sp>
      <p:sp>
        <p:nvSpPr>
          <p:cNvPr id="13" name="fase 3"/>
          <p:cNvSpPr/>
          <p:nvPr/>
        </p:nvSpPr>
        <p:spPr>
          <a:xfrm>
            <a:off x="6210148" y="1371600"/>
            <a:ext cx="2602154" cy="2331720"/>
          </a:xfrm>
          <a:prstGeom prst="roundRect">
            <a:avLst>
              <a:gd name="adj" fmla="val 4706"/>
            </a:avLst>
          </a:prstGeom>
          <a:solidFill>
            <a:srgbClr val="F1F4F3"/>
          </a:solidFill>
          <a:ln w="12700">
            <a:solidFill>
              <a:srgbClr val="F1F4F3"/>
            </a:solidFill>
            <a:prstDash val="solid"/>
          </a:ln>
        </p:spPr>
      </p:sp>
      <p:sp>
        <p:nvSpPr>
          <p:cNvPr id="14" name="Text 12"/>
          <p:cNvSpPr txBox="1"/>
          <p:nvPr/>
        </p:nvSpPr>
        <p:spPr>
          <a:xfrm>
            <a:off x="6466180" y="1572768"/>
            <a:ext cx="2090090" cy="274320"/>
          </a:xfrm>
          <a:prstGeom prst="rect">
            <a:avLst/>
          </a:prstGeom>
          <a:noFill/>
          <a:ln/>
        </p:spPr>
        <p:txBody>
          <a:bodyPr wrap="square" lIns="0" tIns="0" rIns="0" bIns="0" rtlCol="0" anchor="t"/>
          <a:lstStyle/>
          <a:p>
            <a:pPr indent="0" marL="0">
              <a:buNone/>
            </a:pPr>
            <a:r>
              <a:rPr lang="en-US" sz="1200" b="1" dirty="0">
                <a:solidFill>
                  <a:srgbClr val="4E5F5C"/>
                </a:solidFill>
              </a:rPr>
              <a:t>semanas 4 a 6</a:t>
            </a:r>
            <a:endParaRPr lang="en-US" sz="1200" dirty="0"/>
          </a:p>
        </p:txBody>
      </p:sp>
      <p:sp>
        <p:nvSpPr>
          <p:cNvPr id="15" name="Text 13"/>
          <p:cNvSpPr txBox="1"/>
          <p:nvPr/>
        </p:nvSpPr>
        <p:spPr>
          <a:xfrm>
            <a:off x="6466180" y="1847088"/>
            <a:ext cx="2090090" cy="365760"/>
          </a:xfrm>
          <a:prstGeom prst="rect">
            <a:avLst/>
          </a:prstGeom>
          <a:noFill/>
          <a:ln/>
        </p:spPr>
        <p:txBody>
          <a:bodyPr wrap="square" lIns="0" tIns="0" rIns="0" bIns="0" rtlCol="0" anchor="t"/>
          <a:lstStyle/>
          <a:p>
            <a:pPr indent="0" marL="0">
              <a:buNone/>
            </a:pPr>
            <a:r>
              <a:rPr lang="en-US" sz="1800" b="1" dirty="0">
                <a:solidFill>
                  <a:srgbClr val="0F2623"/>
                </a:solidFill>
              </a:rPr>
              <a:t>Piloto em uso</a:t>
            </a:r>
            <a:endParaRPr lang="en-US" sz="1800" dirty="0"/>
          </a:p>
        </p:txBody>
      </p:sp>
      <p:sp>
        <p:nvSpPr>
          <p:cNvPr id="16" name="Text 14"/>
          <p:cNvSpPr txBox="1"/>
          <p:nvPr/>
        </p:nvSpPr>
        <p:spPr>
          <a:xfrm>
            <a:off x="6466180" y="2286000"/>
            <a:ext cx="2090090" cy="1325880"/>
          </a:xfrm>
          <a:prstGeom prst="rect">
            <a:avLst/>
          </a:prstGeom>
          <a:noFill/>
          <a:ln/>
        </p:spPr>
        <p:txBody>
          <a:bodyPr wrap="square" lIns="0" tIns="0" rIns="0" bIns="0" rtlCol="0" anchor="t"/>
          <a:lstStyle/>
          <a:p>
            <a:pPr indent="0" marL="0">
              <a:buNone/>
            </a:pPr>
            <a:r>
              <a:rPr lang="en-US" sz="1300" dirty="0">
                <a:solidFill>
                  <a:srgbClr val="4E5F5C"/>
                </a:solidFill>
              </a:rPr>
              <a:t>Resumo de segunda-feira revisto e respostas combinadas com o cliente.</a:t>
            </a:r>
            <a:endParaRPr lang="en-US" sz="1300" dirty="0"/>
          </a:p>
        </p:txBody>
      </p:sp>
      <p:sp>
        <p:nvSpPr>
          <p:cNvPr id="17" name="seta 3"/>
          <p:cNvSpPr/>
          <p:nvPr/>
        </p:nvSpPr>
        <p:spPr>
          <a:xfrm>
            <a:off x="8871737" y="2432304"/>
            <a:ext cx="109728" cy="219456"/>
          </a:xfrm>
          <a:prstGeom prst="chevron">
            <a:avLst/>
          </a:prstGeom>
          <a:solidFill>
            <a:srgbClr val="4E5F5C"/>
          </a:solidFill>
          <a:ln w="12700">
            <a:solidFill>
              <a:srgbClr val="4E5F5C"/>
            </a:solidFill>
            <a:prstDash val="solid"/>
          </a:ln>
        </p:spPr>
      </p:sp>
      <p:sp>
        <p:nvSpPr>
          <p:cNvPr id="18" name="fase 4"/>
          <p:cNvSpPr/>
          <p:nvPr/>
        </p:nvSpPr>
        <p:spPr>
          <a:xfrm>
            <a:off x="9040901" y="1371600"/>
            <a:ext cx="2602154" cy="2331720"/>
          </a:xfrm>
          <a:prstGeom prst="roundRect">
            <a:avLst>
              <a:gd name="adj" fmla="val 4706"/>
            </a:avLst>
          </a:prstGeom>
          <a:solidFill>
            <a:srgbClr val="0F2623"/>
          </a:solidFill>
          <a:ln w="12700">
            <a:solidFill>
              <a:srgbClr val="0F2623"/>
            </a:solidFill>
            <a:prstDash val="solid"/>
          </a:ln>
        </p:spPr>
      </p:sp>
      <p:sp>
        <p:nvSpPr>
          <p:cNvPr id="19" name="Text 17"/>
          <p:cNvSpPr txBox="1"/>
          <p:nvPr/>
        </p:nvSpPr>
        <p:spPr>
          <a:xfrm>
            <a:off x="9296933" y="1572768"/>
            <a:ext cx="2090090" cy="274320"/>
          </a:xfrm>
          <a:prstGeom prst="rect">
            <a:avLst/>
          </a:prstGeom>
          <a:noFill/>
          <a:ln/>
        </p:spPr>
        <p:txBody>
          <a:bodyPr wrap="square" lIns="0" tIns="0" rIns="0" bIns="0" rtlCol="0" anchor="t"/>
          <a:lstStyle/>
          <a:p>
            <a:pPr indent="0" marL="0">
              <a:buNone/>
            </a:pPr>
            <a:r>
              <a:rPr lang="en-US" sz="1200" b="1" dirty="0">
                <a:solidFill>
                  <a:srgbClr val="F1F4F3"/>
                </a:solidFill>
              </a:rPr>
              <a:t>semana 7</a:t>
            </a:r>
            <a:endParaRPr lang="en-US" sz="1200" dirty="0"/>
          </a:p>
        </p:txBody>
      </p:sp>
      <p:sp>
        <p:nvSpPr>
          <p:cNvPr id="20" name="Text 18"/>
          <p:cNvSpPr txBox="1"/>
          <p:nvPr/>
        </p:nvSpPr>
        <p:spPr>
          <a:xfrm>
            <a:off x="9296933" y="1847088"/>
            <a:ext cx="2090090" cy="365760"/>
          </a:xfrm>
          <a:prstGeom prst="rect">
            <a:avLst/>
          </a:prstGeom>
          <a:noFill/>
          <a:ln/>
        </p:spPr>
        <p:txBody>
          <a:bodyPr wrap="square" lIns="0" tIns="0" rIns="0" bIns="0" rtlCol="0" anchor="t"/>
          <a:lstStyle/>
          <a:p>
            <a:pPr indent="0" marL="0">
              <a:buNone/>
            </a:pPr>
            <a:r>
              <a:rPr lang="en-US" sz="1800" b="1" dirty="0">
                <a:solidFill>
                  <a:srgbClr val="FFFFFF"/>
                </a:solidFill>
              </a:rPr>
              <a:t>Decisão</a:t>
            </a:r>
            <a:endParaRPr lang="en-US" sz="1800" dirty="0"/>
          </a:p>
        </p:txBody>
      </p:sp>
      <p:sp>
        <p:nvSpPr>
          <p:cNvPr id="21" name="Text 19"/>
          <p:cNvSpPr txBox="1"/>
          <p:nvPr/>
        </p:nvSpPr>
        <p:spPr>
          <a:xfrm>
            <a:off x="9296933" y="2286000"/>
            <a:ext cx="2090090" cy="1325880"/>
          </a:xfrm>
          <a:prstGeom prst="rect">
            <a:avLst/>
          </a:prstGeom>
          <a:noFill/>
          <a:ln/>
        </p:spPr>
        <p:txBody>
          <a:bodyPr wrap="square" lIns="0" tIns="0" rIns="0" bIns="0" rtlCol="0" anchor="t"/>
          <a:lstStyle/>
          <a:p>
            <a:pPr indent="0" marL="0">
              <a:buNone/>
            </a:pPr>
            <a:r>
              <a:rPr lang="en-US" sz="1300" dirty="0">
                <a:solidFill>
                  <a:srgbClr val="FFFFFF"/>
                </a:solidFill>
              </a:rPr>
              <a:t>Avançar para a versão ligada, ajustar ou parar.</a:t>
            </a:r>
            <a:endParaRPr lang="en-US" sz="1300" dirty="0"/>
          </a:p>
        </p:txBody>
      </p:sp>
      <p:sp>
        <p:nvSpPr>
          <p:cNvPr id="22" name="Text 20"/>
          <p:cNvSpPr txBox="1"/>
          <p:nvPr/>
        </p:nvSpPr>
        <p:spPr>
          <a:xfrm>
            <a:off x="548640" y="4023360"/>
            <a:ext cx="7315200" cy="365760"/>
          </a:xfrm>
          <a:prstGeom prst="rect">
            <a:avLst/>
          </a:prstGeom>
          <a:noFill/>
          <a:ln/>
        </p:spPr>
        <p:txBody>
          <a:bodyPr wrap="square" lIns="0" tIns="0" rIns="0" bIns="0" rtlCol="0" anchor="t"/>
          <a:lstStyle/>
          <a:p>
            <a:pPr indent="0" marL="0">
              <a:buNone/>
            </a:pPr>
            <a:r>
              <a:rPr lang="en-US" sz="1700" b="1" dirty="0">
                <a:solidFill>
                  <a:srgbClr val="0F2623"/>
                </a:solidFill>
              </a:rPr>
              <a:t>Critérios de sucesso do piloto (proposta, a validar)</a:t>
            </a:r>
            <a:endParaRPr lang="en-US" sz="1700" dirty="0"/>
          </a:p>
        </p:txBody>
      </p:sp>
      <p:sp>
        <p:nvSpPr>
          <p:cNvPr id="23" name="Text 21"/>
          <p:cNvSpPr txBox="1"/>
          <p:nvPr/>
        </p:nvSpPr>
        <p:spPr>
          <a:xfrm>
            <a:off x="548640" y="4480560"/>
            <a:ext cx="2602154" cy="685800"/>
          </a:xfrm>
          <a:prstGeom prst="rect">
            <a:avLst/>
          </a:prstGeom>
          <a:noFill/>
          <a:ln/>
        </p:spPr>
        <p:txBody>
          <a:bodyPr wrap="square" lIns="0" tIns="0" rIns="0" bIns="0" rtlCol="0" anchor="t"/>
          <a:lstStyle/>
          <a:p>
            <a:pPr indent="0" marL="0">
              <a:buNone/>
            </a:pPr>
            <a:r>
              <a:rPr lang="en-US" sz="4000" b="1" dirty="0">
                <a:solidFill>
                  <a:srgbClr val="0F2623"/>
                </a:solidFill>
              </a:rPr>
              <a:t>≥ 50%</a:t>
            </a:r>
            <a:endParaRPr lang="en-US" sz="4000" dirty="0"/>
          </a:p>
        </p:txBody>
      </p:sp>
      <p:sp>
        <p:nvSpPr>
          <p:cNvPr id="24" name="Text 22"/>
          <p:cNvSpPr txBox="1"/>
          <p:nvPr/>
        </p:nvSpPr>
        <p:spPr>
          <a:xfrm>
            <a:off x="548640" y="5212080"/>
            <a:ext cx="2510714" cy="685800"/>
          </a:xfrm>
          <a:prstGeom prst="rect">
            <a:avLst/>
          </a:prstGeom>
          <a:noFill/>
          <a:ln/>
        </p:spPr>
        <p:txBody>
          <a:bodyPr wrap="square" lIns="0" tIns="0" rIns="0" bIns="0" rtlCol="0" anchor="t"/>
          <a:lstStyle/>
          <a:p>
            <a:pPr indent="0" marL="0">
              <a:buNone/>
            </a:pPr>
            <a:r>
              <a:rPr lang="en-US" sz="1300" dirty="0">
                <a:solidFill>
                  <a:srgbClr val="4E5F5C"/>
                </a:solidFill>
              </a:rPr>
              <a:t>dos movimentos considerados relevantes pela equipa</a:t>
            </a:r>
            <a:endParaRPr lang="en-US" sz="1300" dirty="0"/>
          </a:p>
        </p:txBody>
      </p:sp>
      <p:sp>
        <p:nvSpPr>
          <p:cNvPr id="25" name="Text 23"/>
          <p:cNvSpPr txBox="1"/>
          <p:nvPr/>
        </p:nvSpPr>
        <p:spPr>
          <a:xfrm>
            <a:off x="3379394" y="4480560"/>
            <a:ext cx="2602154" cy="685800"/>
          </a:xfrm>
          <a:prstGeom prst="rect">
            <a:avLst/>
          </a:prstGeom>
          <a:noFill/>
          <a:ln/>
        </p:spPr>
        <p:txBody>
          <a:bodyPr wrap="square" lIns="0" tIns="0" rIns="0" bIns="0" rtlCol="0" anchor="t"/>
          <a:lstStyle/>
          <a:p>
            <a:pPr indent="0" marL="0">
              <a:buNone/>
            </a:pPr>
            <a:r>
              <a:rPr lang="en-US" sz="4000" b="1" dirty="0">
                <a:solidFill>
                  <a:srgbClr val="0F2623"/>
                </a:solidFill>
              </a:rPr>
              <a:t>≥ 1</a:t>
            </a:r>
            <a:endParaRPr lang="en-US" sz="4000" dirty="0"/>
          </a:p>
        </p:txBody>
      </p:sp>
      <p:sp>
        <p:nvSpPr>
          <p:cNvPr id="26" name="Text 24"/>
          <p:cNvSpPr txBox="1"/>
          <p:nvPr/>
        </p:nvSpPr>
        <p:spPr>
          <a:xfrm>
            <a:off x="3379394" y="5212080"/>
            <a:ext cx="2510714" cy="685800"/>
          </a:xfrm>
          <a:prstGeom prst="rect">
            <a:avLst/>
          </a:prstGeom>
          <a:noFill/>
          <a:ln/>
        </p:spPr>
        <p:txBody>
          <a:bodyPr wrap="square" lIns="0" tIns="0" rIns="0" bIns="0" rtlCol="0" anchor="t"/>
          <a:lstStyle/>
          <a:p>
            <a:pPr indent="0" marL="0">
              <a:buNone/>
            </a:pPr>
            <a:r>
              <a:rPr lang="en-US" sz="1300" dirty="0">
                <a:solidFill>
                  <a:srgbClr val="4E5F5C"/>
                </a:solidFill>
              </a:rPr>
              <a:t>vez em que a equipa soube ou agiu mais cedo (registada)</a:t>
            </a:r>
            <a:endParaRPr lang="en-US" sz="1300" dirty="0"/>
          </a:p>
        </p:txBody>
      </p:sp>
      <p:sp>
        <p:nvSpPr>
          <p:cNvPr id="27" name="Text 25"/>
          <p:cNvSpPr txBox="1"/>
          <p:nvPr/>
        </p:nvSpPr>
        <p:spPr>
          <a:xfrm>
            <a:off x="6210148" y="4480560"/>
            <a:ext cx="2602154" cy="685800"/>
          </a:xfrm>
          <a:prstGeom prst="rect">
            <a:avLst/>
          </a:prstGeom>
          <a:noFill/>
          <a:ln/>
        </p:spPr>
        <p:txBody>
          <a:bodyPr wrap="square" lIns="0" tIns="0" rIns="0" bIns="0" rtlCol="0" anchor="t"/>
          <a:lstStyle/>
          <a:p>
            <a:pPr indent="0" marL="0">
              <a:buNone/>
            </a:pPr>
            <a:r>
              <a:rPr lang="en-US" sz="4000" b="1" dirty="0">
                <a:solidFill>
                  <a:srgbClr val="0F2623"/>
                </a:solidFill>
              </a:rPr>
              <a:t>≤ 1 h</a:t>
            </a:r>
            <a:endParaRPr lang="en-US" sz="4000" dirty="0"/>
          </a:p>
        </p:txBody>
      </p:sp>
      <p:sp>
        <p:nvSpPr>
          <p:cNvPr id="28" name="Text 26"/>
          <p:cNvSpPr txBox="1"/>
          <p:nvPr/>
        </p:nvSpPr>
        <p:spPr>
          <a:xfrm>
            <a:off x="6210148" y="5212080"/>
            <a:ext cx="2510714" cy="685800"/>
          </a:xfrm>
          <a:prstGeom prst="rect">
            <a:avLst/>
          </a:prstGeom>
          <a:noFill/>
          <a:ln/>
        </p:spPr>
        <p:txBody>
          <a:bodyPr wrap="square" lIns="0" tIns="0" rIns="0" bIns="0" rtlCol="0" anchor="t"/>
          <a:lstStyle/>
          <a:p>
            <a:pPr indent="0" marL="0">
              <a:buNone/>
            </a:pPr>
            <a:r>
              <a:rPr lang="en-US" sz="1300" dirty="0">
                <a:solidFill>
                  <a:srgbClr val="4E5F5C"/>
                </a:solidFill>
              </a:rPr>
              <a:t>por semana para rever o resumo, na semana 6</a:t>
            </a:r>
            <a:endParaRPr lang="en-US" sz="1300" dirty="0"/>
          </a:p>
        </p:txBody>
      </p:sp>
      <p:sp>
        <p:nvSpPr>
          <p:cNvPr id="29" name="Text 27"/>
          <p:cNvSpPr txBox="1"/>
          <p:nvPr/>
        </p:nvSpPr>
        <p:spPr>
          <a:xfrm>
            <a:off x="9040901" y="4480560"/>
            <a:ext cx="2602154" cy="685800"/>
          </a:xfrm>
          <a:prstGeom prst="rect">
            <a:avLst/>
          </a:prstGeom>
          <a:noFill/>
          <a:ln/>
        </p:spPr>
        <p:txBody>
          <a:bodyPr wrap="square" lIns="0" tIns="0" rIns="0" bIns="0" rtlCol="0" anchor="t"/>
          <a:lstStyle/>
          <a:p>
            <a:pPr indent="0" marL="0">
              <a:buNone/>
            </a:pPr>
            <a:r>
              <a:rPr lang="en-US" sz="4000" b="1" dirty="0">
                <a:solidFill>
                  <a:srgbClr val="0F2623"/>
                </a:solidFill>
              </a:rPr>
              <a:t>≥ 3</a:t>
            </a:r>
            <a:endParaRPr lang="en-US" sz="4000" dirty="0"/>
          </a:p>
        </p:txBody>
      </p:sp>
      <p:sp>
        <p:nvSpPr>
          <p:cNvPr id="30" name="Text 28"/>
          <p:cNvSpPr txBox="1"/>
          <p:nvPr/>
        </p:nvSpPr>
        <p:spPr>
          <a:xfrm>
            <a:off x="9040901" y="5212080"/>
            <a:ext cx="2510714" cy="685800"/>
          </a:xfrm>
          <a:prstGeom prst="rect">
            <a:avLst/>
          </a:prstGeom>
          <a:noFill/>
          <a:ln/>
        </p:spPr>
        <p:txBody>
          <a:bodyPr wrap="square" lIns="0" tIns="0" rIns="0" bIns="0" rtlCol="0" anchor="t"/>
          <a:lstStyle/>
          <a:p>
            <a:pPr indent="0" marL="0">
              <a:buNone/>
            </a:pPr>
            <a:r>
              <a:rPr lang="en-US" sz="1300" dirty="0">
                <a:solidFill>
                  <a:srgbClr val="4E5F5C"/>
                </a:solidFill>
              </a:rPr>
              <a:t>respostas combinadas com o cliente</a:t>
            </a:r>
            <a:endParaRPr lang="en-US" sz="1300" dirty="0"/>
          </a:p>
        </p:txBody>
      </p:sp>
      <p:sp>
        <p:nvSpPr>
          <p:cNvPr id="25" name="Slide Number Placeholder 0"/>
          <p:cNvSpPr>
            <a:spLocks noGrp="1"/>
          </p:cNvSpPr>
          <p:nvPr>
            <p:ph type="sldNum" sz="quarter" idx="4294967295"/>
          </p:nvPr>
        </p:nvSpPr>
        <p:spPr>
          <a:xfrm>
            <a:off x="10454335"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E5F5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548640"/>
            <a:ext cx="11094415" cy="822960"/>
          </a:xfrm>
          <a:prstGeom prst="rect">
            <a:avLst/>
          </a:prstGeom>
          <a:noFill/>
          <a:ln/>
        </p:spPr>
        <p:txBody>
          <a:bodyPr wrap="square" lIns="0" tIns="0" rIns="0" bIns="0" rtlCol="0"/>
          <a:lstStyle/>
          <a:p>
            <a:pPr algn="l" indent="0" marL="0">
              <a:buNone/>
            </a:pPr>
            <a:r>
              <a:rPr lang="en-US" sz="3600" b="1" dirty="0">
                <a:solidFill>
                  <a:srgbClr val="FFFFFF"/>
                </a:solidFill>
              </a:rPr>
              <a:t>Quatro decisões</a:t>
            </a:r>
            <a:endParaRPr lang="en-US" sz="3600" dirty="0"/>
          </a:p>
        </p:txBody>
      </p:sp>
      <p:sp>
        <p:nvSpPr>
          <p:cNvPr id="3" name="numero 1"/>
          <p:cNvSpPr/>
          <p:nvPr/>
        </p:nvSpPr>
        <p:spPr>
          <a:xfrm>
            <a:off x="548640" y="1691640"/>
            <a:ext cx="420624" cy="420624"/>
          </a:xfrm>
          <a:prstGeom prst="ellipse">
            <a:avLst/>
          </a:prstGeom>
          <a:solidFill>
            <a:srgbClr val="FFFFFF"/>
          </a:solidFill>
          <a:ln w="12700">
            <a:solidFill>
              <a:srgbClr val="FFFFFF"/>
            </a:solidFill>
            <a:prstDash val="solid"/>
          </a:ln>
        </p:spPr>
      </p:sp>
      <p:sp>
        <p:nvSpPr>
          <p:cNvPr id="4" name="Text 2"/>
          <p:cNvSpPr txBox="1"/>
          <p:nvPr/>
        </p:nvSpPr>
        <p:spPr>
          <a:xfrm>
            <a:off x="548640" y="1691640"/>
            <a:ext cx="420624" cy="420624"/>
          </a:xfrm>
          <a:prstGeom prst="rect">
            <a:avLst/>
          </a:prstGeom>
          <a:noFill/>
          <a:ln/>
        </p:spPr>
        <p:txBody>
          <a:bodyPr wrap="square" lIns="0" tIns="0" rIns="0" bIns="0" rtlCol="0" anchor="ctr"/>
          <a:lstStyle/>
          <a:p>
            <a:pPr algn="ctr" indent="0" marL="0">
              <a:buNone/>
            </a:pPr>
            <a:r>
              <a:rPr lang="en-US" sz="1500" b="1" dirty="0">
                <a:solidFill>
                  <a:srgbClr val="0F2623"/>
                </a:solidFill>
              </a:rPr>
              <a:t>1</a:t>
            </a:r>
            <a:endParaRPr lang="en-US" sz="1500" dirty="0"/>
          </a:p>
        </p:txBody>
      </p:sp>
      <p:sp>
        <p:nvSpPr>
          <p:cNvPr id="5" name="Text 3"/>
          <p:cNvSpPr txBox="1"/>
          <p:nvPr/>
        </p:nvSpPr>
        <p:spPr>
          <a:xfrm>
            <a:off x="1188720" y="1664208"/>
            <a:ext cx="10241280" cy="411480"/>
          </a:xfrm>
          <a:prstGeom prst="rect">
            <a:avLst/>
          </a:prstGeom>
          <a:noFill/>
          <a:ln/>
        </p:spPr>
        <p:txBody>
          <a:bodyPr wrap="square" lIns="0" tIns="0" rIns="0" bIns="0" rtlCol="0" anchor="t"/>
          <a:lstStyle/>
          <a:p>
            <a:pPr indent="0" marL="0">
              <a:buNone/>
            </a:pPr>
            <a:r>
              <a:rPr lang="en-US" sz="2000" b="1" dirty="0">
                <a:solidFill>
                  <a:srgbClr val="FFFFFF"/>
                </a:solidFill>
              </a:rPr>
              <a:t>Aprovar o teste de dados reais de 2 semanas</a:t>
            </a:r>
            <a:endParaRPr lang="en-US" sz="2000" dirty="0"/>
          </a:p>
        </p:txBody>
      </p:sp>
      <p:sp>
        <p:nvSpPr>
          <p:cNvPr id="6" name="Text 4"/>
          <p:cNvSpPr txBox="1"/>
          <p:nvPr/>
        </p:nvSpPr>
        <p:spPr>
          <a:xfrm>
            <a:off x="1188720" y="2103120"/>
            <a:ext cx="10241280" cy="457200"/>
          </a:xfrm>
          <a:prstGeom prst="rect">
            <a:avLst/>
          </a:prstGeom>
          <a:noFill/>
          <a:ln/>
        </p:spPr>
        <p:txBody>
          <a:bodyPr wrap="square" lIns="0" tIns="0" rIns="0" bIns="0" rtlCol="0" anchor="t"/>
          <a:lstStyle/>
          <a:p>
            <a:pPr indent="0" marL="0">
              <a:buNone/>
            </a:pPr>
            <a:r>
              <a:rPr lang="en-US" sz="1400" dirty="0">
                <a:solidFill>
                  <a:srgbClr val="F1F4F3"/>
                </a:solidFill>
              </a:rPr>
              <a:t>Fontes públicas, com Compliance a validar os termos de uso (Q10).</a:t>
            </a:r>
            <a:endParaRPr lang="en-US" sz="1400" dirty="0"/>
          </a:p>
        </p:txBody>
      </p:sp>
      <p:sp>
        <p:nvSpPr>
          <p:cNvPr id="7" name="numero 2"/>
          <p:cNvSpPr/>
          <p:nvPr/>
        </p:nvSpPr>
        <p:spPr>
          <a:xfrm>
            <a:off x="548640" y="2770632"/>
            <a:ext cx="420624" cy="420624"/>
          </a:xfrm>
          <a:prstGeom prst="ellipse">
            <a:avLst/>
          </a:prstGeom>
          <a:solidFill>
            <a:srgbClr val="FFFFFF"/>
          </a:solidFill>
          <a:ln w="12700">
            <a:solidFill>
              <a:srgbClr val="FFFFFF"/>
            </a:solidFill>
            <a:prstDash val="solid"/>
          </a:ln>
        </p:spPr>
      </p:sp>
      <p:sp>
        <p:nvSpPr>
          <p:cNvPr id="8" name="Text 6"/>
          <p:cNvSpPr txBox="1"/>
          <p:nvPr/>
        </p:nvSpPr>
        <p:spPr>
          <a:xfrm>
            <a:off x="548640" y="2770632"/>
            <a:ext cx="420624" cy="420624"/>
          </a:xfrm>
          <a:prstGeom prst="rect">
            <a:avLst/>
          </a:prstGeom>
          <a:noFill/>
          <a:ln/>
        </p:spPr>
        <p:txBody>
          <a:bodyPr wrap="square" lIns="0" tIns="0" rIns="0" bIns="0" rtlCol="0" anchor="ctr"/>
          <a:lstStyle/>
          <a:p>
            <a:pPr algn="ctr" indent="0" marL="0">
              <a:buNone/>
            </a:pPr>
            <a:r>
              <a:rPr lang="en-US" sz="1500" b="1" dirty="0">
                <a:solidFill>
                  <a:srgbClr val="0F2623"/>
                </a:solidFill>
              </a:rPr>
              <a:t>2</a:t>
            </a:r>
            <a:endParaRPr lang="en-US" sz="1500" dirty="0"/>
          </a:p>
        </p:txBody>
      </p:sp>
      <p:sp>
        <p:nvSpPr>
          <p:cNvPr id="9" name="Text 7"/>
          <p:cNvSpPr txBox="1"/>
          <p:nvPr/>
        </p:nvSpPr>
        <p:spPr>
          <a:xfrm>
            <a:off x="1188720" y="2743200"/>
            <a:ext cx="10241280" cy="411480"/>
          </a:xfrm>
          <a:prstGeom prst="rect">
            <a:avLst/>
          </a:prstGeom>
          <a:noFill/>
          <a:ln/>
        </p:spPr>
        <p:txBody>
          <a:bodyPr wrap="square" lIns="0" tIns="0" rIns="0" bIns="0" rtlCol="0" anchor="t"/>
          <a:lstStyle/>
          <a:p>
            <a:pPr indent="0" marL="0">
              <a:buNone/>
            </a:pPr>
            <a:r>
              <a:rPr lang="en-US" sz="2000" b="1" dirty="0">
                <a:solidFill>
                  <a:srgbClr val="FFFFFF"/>
                </a:solidFill>
              </a:rPr>
              <a:t>Aprovar o piloto de 6 semanas, se o teste passar</a:t>
            </a:r>
            <a:endParaRPr lang="en-US" sz="2000" dirty="0"/>
          </a:p>
        </p:txBody>
      </p:sp>
      <p:sp>
        <p:nvSpPr>
          <p:cNvPr id="10" name="Text 8"/>
          <p:cNvSpPr txBox="1"/>
          <p:nvPr/>
        </p:nvSpPr>
        <p:spPr>
          <a:xfrm>
            <a:off x="1188720" y="3182112"/>
            <a:ext cx="10241280" cy="457200"/>
          </a:xfrm>
          <a:prstGeom prst="rect">
            <a:avLst/>
          </a:prstGeom>
          <a:noFill/>
          <a:ln/>
        </p:spPr>
        <p:txBody>
          <a:bodyPr wrap="square" lIns="0" tIns="0" rIns="0" bIns="0" rtlCol="0" anchor="t"/>
          <a:lstStyle/>
          <a:p>
            <a:pPr indent="0" marL="0">
              <a:buNone/>
            </a:pPr>
            <a:r>
              <a:rPr lang="en-US" sz="1400" dirty="0">
                <a:solidFill>
                  <a:srgbClr val="F1F4F3"/>
                </a:solidFill>
              </a:rPr>
              <a:t>E escolher a equipa de conta e o cliente.</a:t>
            </a:r>
            <a:endParaRPr lang="en-US" sz="1400" dirty="0"/>
          </a:p>
        </p:txBody>
      </p:sp>
      <p:sp>
        <p:nvSpPr>
          <p:cNvPr id="11" name="numero 3"/>
          <p:cNvSpPr/>
          <p:nvPr/>
        </p:nvSpPr>
        <p:spPr>
          <a:xfrm>
            <a:off x="548640" y="3849624"/>
            <a:ext cx="420624" cy="420624"/>
          </a:xfrm>
          <a:prstGeom prst="ellipse">
            <a:avLst/>
          </a:prstGeom>
          <a:solidFill>
            <a:srgbClr val="FFFFFF"/>
          </a:solidFill>
          <a:ln w="12700">
            <a:solidFill>
              <a:srgbClr val="FFFFFF"/>
            </a:solidFill>
            <a:prstDash val="solid"/>
          </a:ln>
        </p:spPr>
      </p:sp>
      <p:sp>
        <p:nvSpPr>
          <p:cNvPr id="12" name="Text 10"/>
          <p:cNvSpPr txBox="1"/>
          <p:nvPr/>
        </p:nvSpPr>
        <p:spPr>
          <a:xfrm>
            <a:off x="548640" y="3849624"/>
            <a:ext cx="420624" cy="420624"/>
          </a:xfrm>
          <a:prstGeom prst="rect">
            <a:avLst/>
          </a:prstGeom>
          <a:noFill/>
          <a:ln/>
        </p:spPr>
        <p:txBody>
          <a:bodyPr wrap="square" lIns="0" tIns="0" rIns="0" bIns="0" rtlCol="0" anchor="ctr"/>
          <a:lstStyle/>
          <a:p>
            <a:pPr algn="ctr" indent="0" marL="0">
              <a:buNone/>
            </a:pPr>
            <a:r>
              <a:rPr lang="en-US" sz="1500" b="1" dirty="0">
                <a:solidFill>
                  <a:srgbClr val="0F2623"/>
                </a:solidFill>
              </a:rPr>
              <a:t>3</a:t>
            </a:r>
            <a:endParaRPr lang="en-US" sz="1500" dirty="0"/>
          </a:p>
        </p:txBody>
      </p:sp>
      <p:sp>
        <p:nvSpPr>
          <p:cNvPr id="13" name="Text 11"/>
          <p:cNvSpPr txBox="1"/>
          <p:nvPr/>
        </p:nvSpPr>
        <p:spPr>
          <a:xfrm>
            <a:off x="1188720" y="3822192"/>
            <a:ext cx="10241280" cy="411480"/>
          </a:xfrm>
          <a:prstGeom prst="rect">
            <a:avLst/>
          </a:prstGeom>
          <a:noFill/>
          <a:ln/>
        </p:spPr>
        <p:txBody>
          <a:bodyPr wrap="square" lIns="0" tIns="0" rIns="0" bIns="0" rtlCol="0" anchor="t"/>
          <a:lstStyle/>
          <a:p>
            <a:pPr indent="0" marL="0">
              <a:buNone/>
            </a:pPr>
            <a:r>
              <a:rPr lang="en-US" sz="2000" b="1" dirty="0">
                <a:solidFill>
                  <a:srgbClr val="FFFFFF"/>
                </a:solidFill>
              </a:rPr>
              <a:t>Encaminhar para IT e Compliance as perguntas que decidem a versão ligada</a:t>
            </a:r>
            <a:endParaRPr lang="en-US" sz="2000" dirty="0"/>
          </a:p>
        </p:txBody>
      </p:sp>
      <p:sp>
        <p:nvSpPr>
          <p:cNvPr id="14" name="Text 12"/>
          <p:cNvSpPr txBox="1"/>
          <p:nvPr/>
        </p:nvSpPr>
        <p:spPr>
          <a:xfrm>
            <a:off x="1188720" y="4261104"/>
            <a:ext cx="10241280" cy="457200"/>
          </a:xfrm>
          <a:prstGeom prst="rect">
            <a:avLst/>
          </a:prstGeom>
          <a:noFill/>
          <a:ln/>
        </p:spPr>
        <p:txBody>
          <a:bodyPr wrap="square" lIns="0" tIns="0" rIns="0" bIns="0" rtlCol="0" anchor="t"/>
          <a:lstStyle/>
          <a:p>
            <a:pPr indent="0" marL="0">
              <a:buNone/>
            </a:pPr>
            <a:r>
              <a:rPr lang="en-US" sz="1400" dirty="0">
                <a:solidFill>
                  <a:srgbClr val="F1F4F3"/>
                </a:solidFill>
              </a:rPr>
              <a:t>Uso de IA (Q13), dados de pesquisa paga dos clientes (Q12), processo de aprovação (Q01), ambiente (Q02).</a:t>
            </a:r>
            <a:endParaRPr lang="en-US" sz="1400" dirty="0"/>
          </a:p>
        </p:txBody>
      </p:sp>
      <p:sp>
        <p:nvSpPr>
          <p:cNvPr id="15" name="numero 4"/>
          <p:cNvSpPr/>
          <p:nvPr/>
        </p:nvSpPr>
        <p:spPr>
          <a:xfrm>
            <a:off x="548640" y="4928616"/>
            <a:ext cx="420624" cy="420624"/>
          </a:xfrm>
          <a:prstGeom prst="ellipse">
            <a:avLst/>
          </a:prstGeom>
          <a:solidFill>
            <a:srgbClr val="FFFFFF"/>
          </a:solidFill>
          <a:ln w="12700">
            <a:solidFill>
              <a:srgbClr val="FFFFFF"/>
            </a:solidFill>
            <a:prstDash val="solid"/>
          </a:ln>
        </p:spPr>
      </p:sp>
      <p:sp>
        <p:nvSpPr>
          <p:cNvPr id="16" name="Text 14"/>
          <p:cNvSpPr txBox="1"/>
          <p:nvPr/>
        </p:nvSpPr>
        <p:spPr>
          <a:xfrm>
            <a:off x="548640" y="4928616"/>
            <a:ext cx="420624" cy="420624"/>
          </a:xfrm>
          <a:prstGeom prst="rect">
            <a:avLst/>
          </a:prstGeom>
          <a:noFill/>
          <a:ln/>
        </p:spPr>
        <p:txBody>
          <a:bodyPr wrap="square" lIns="0" tIns="0" rIns="0" bIns="0" rtlCol="0" anchor="ctr"/>
          <a:lstStyle/>
          <a:p>
            <a:pPr algn="ctr" indent="0" marL="0">
              <a:buNone/>
            </a:pPr>
            <a:r>
              <a:rPr lang="en-US" sz="1500" b="1" dirty="0">
                <a:solidFill>
                  <a:srgbClr val="0F2623"/>
                </a:solidFill>
              </a:rPr>
              <a:t>4</a:t>
            </a:r>
            <a:endParaRPr lang="en-US" sz="1500" dirty="0"/>
          </a:p>
        </p:txBody>
      </p:sp>
      <p:sp>
        <p:nvSpPr>
          <p:cNvPr id="17" name="Text 15"/>
          <p:cNvSpPr txBox="1"/>
          <p:nvPr/>
        </p:nvSpPr>
        <p:spPr>
          <a:xfrm>
            <a:off x="1188720" y="4901184"/>
            <a:ext cx="10241280" cy="411480"/>
          </a:xfrm>
          <a:prstGeom prst="rect">
            <a:avLst/>
          </a:prstGeom>
          <a:noFill/>
          <a:ln/>
        </p:spPr>
        <p:txBody>
          <a:bodyPr wrap="square" lIns="0" tIns="0" rIns="0" bIns="0" rtlCol="0" anchor="t"/>
          <a:lstStyle/>
          <a:p>
            <a:pPr indent="0" marL="0">
              <a:buNone/>
            </a:pPr>
            <a:r>
              <a:rPr lang="en-US" sz="2000" b="1" dirty="0">
                <a:solidFill>
                  <a:srgbClr val="FFFFFF"/>
                </a:solidFill>
              </a:rPr>
              <a:t>Acesso a uma fonte licenciada de investimento</a:t>
            </a:r>
            <a:endParaRPr lang="en-US" sz="2000" dirty="0"/>
          </a:p>
        </p:txBody>
      </p:sp>
      <p:sp>
        <p:nvSpPr>
          <p:cNvPr id="18" name="Text 16"/>
          <p:cNvSpPr txBox="1"/>
          <p:nvPr/>
        </p:nvSpPr>
        <p:spPr>
          <a:xfrm>
            <a:off x="1188720" y="5340096"/>
            <a:ext cx="10241280" cy="457200"/>
          </a:xfrm>
          <a:prstGeom prst="rect">
            <a:avLst/>
          </a:prstGeom>
          <a:noFill/>
          <a:ln/>
        </p:spPr>
        <p:txBody>
          <a:bodyPr wrap="square" lIns="0" tIns="0" rIns="0" bIns="0" rtlCol="0" anchor="t"/>
          <a:lstStyle/>
          <a:p>
            <a:pPr indent="0" marL="0">
              <a:buNone/>
            </a:pPr>
            <a:r>
              <a:rPr lang="en-US" sz="1400" dirty="0">
                <a:solidFill>
                  <a:srgbClr val="F1F4F3"/>
                </a:solidFill>
              </a:rPr>
              <a:t>Marktest ou equivalente para o vertical do teste, se já existir no grupo (Q11).</a:t>
            </a:r>
            <a:endParaRPr lang="en-US" sz="1400" dirty="0"/>
          </a:p>
        </p:txBody>
      </p:sp>
      <p:sp>
        <p:nvSpPr>
          <p:cNvPr id="25" name="Slide Number Placeholder 0"/>
          <p:cNvSpPr>
            <a:spLocks noGrp="1"/>
          </p:cNvSpPr>
          <p:nvPr>
            <p:ph type="sldNum" sz="quarter" idx="4294967295"/>
          </p:nvPr>
        </p:nvSpPr>
        <p:spPr>
          <a:xfrm>
            <a:off x="10271455"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1F4F3"/>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Arena Radar">
  <a:themeElements>
    <a:clrScheme name="Arena Radar">
      <a:dk1>
        <a:srgbClr val="0F2623"/>
      </a:dk1>
      <a:lt1>
        <a:srgbClr val="FFFFFF"/>
      </a:lt1>
      <a:dk2>
        <a:srgbClr val="4E5F5C"/>
      </a:dk2>
      <a:lt2>
        <a:srgbClr val="F1F4F3"/>
      </a:lt2>
      <a:accent1>
        <a:srgbClr val="328CF5"/>
      </a:accent1>
      <a:accent2>
        <a:srgbClr val="FFDC32"/>
      </a:accent2>
      <a:accent3>
        <a:srgbClr val="00B89B"/>
      </a:accent3>
      <a:accent4>
        <a:srgbClr val="E60000"/>
      </a:accent4>
      <a:accent5>
        <a:srgbClr val="733478"/>
      </a:accent5>
      <a:accent6>
        <a:srgbClr val="1B6FD6"/>
      </a:accent6>
      <a:hlink>
        <a:srgbClr val="1B6FD6"/>
      </a:hlink>
      <a:folHlink>
        <a:srgbClr val="733478"/>
      </a:folHlink>
    </a:clrScheme>
    <a:fontScheme name="Arena Radar">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Arena Media Portugal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Arena Radar — Ponto de situação</dc:title>
  <dc:subject>PptxGenJS Presentation</dc:subject>
  <dc:creator>Arena Media Portugal</dc:creator>
  <cp:lastModifiedBy>Arena Media Portugal</cp:lastModifiedBy>
  <cp:revision>1</cp:revision>
  <dcterms:created xsi:type="dcterms:W3CDTF">2026-10-11T15:42:31Z</dcterms:created>
  <dcterms:modified xsi:type="dcterms:W3CDTF">2026-10-11T15:42:31Z</dcterms:modified>
</cp:coreProperties>
</file>