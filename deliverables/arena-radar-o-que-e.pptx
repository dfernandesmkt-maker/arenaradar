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 que é" id="{c3eaf434-d89b-2b3b-6d29-af614f3b2632}">
          <p14:sldIdLst>
            <p14:sldId id="256"/>
            <p14:sldId id="257"/>
            <p14:sldId id="258"/>
          </p14:sldIdLst>
        </p14:section>
        <p14:section name="Como funciona" id="{4369c83e-9a40-68bc-7e94-44731e567f78}">
          <p14:sldIdLst>
            <p14:sldId id="259"/>
            <p14:sldId id="260"/>
            <p14:sldId id="261"/>
          </p14:sldIdLst>
        </p14:section>
        <p14:section name="As áreas" id="{1742a069-8aeb-d326-1e47-5a91aa2512aa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Dados e regras" id="{a912b6e1-1e5a-f627-c9d2-e8e545508c46}">
          <p14:sldIdLst>
            <p14:sldId id="269"/>
            <p14:sldId id="270"/>
          </p14:sldIdLst>
        </p14:section>
        <p14:section name="Estado" id="{be03f974-0d21-add0-ed56-86b7390d118d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documento explica o que é o Arena Radar, como funciona e em que ponto está. Tudo o que aparece nas capturas é de demonstração: clientes e marcas fictícios, sem dados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numa frase: seguir a concorrência dos clientes de forma contínua e pôr a equipa à frente dela. Estar à frente quer dizer três coisas: ver primeiro, perceber o padrão de cada marca e responder depressa, com respostas que já estão combinadas com o cliente. Princípio de base: a plataforma sugere, a equipa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razões. A expectativa do cliente mudou: quer antecipação. A capacidade da equipa não chega para vigiar tudo de forma contínua. E os dados de anúncios passaram a ser públicos, por isso a vantagem já não está em tê-los, está em vê-los a tempo e saber o que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objeto central do Radar é o movimento: algo que um concorrente fez e que se pode provar. Há sete tipos. Cada um traz a sua prova: criativos, uma série de preço, dados de leilão das contas do cliente ou uma notícia. Os exemplos usam as marcas fictícias da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abrir um movimento, o Radar responde a quatro perguntas: qual é a prova, porque importa, o que a marca costuma fazer a seguir e se já temos resposta combinada. A importância nunca é uma caixa negra: é uma soma de pontos que se vê. Daí saem três níveis: importante, a acompanhar e informativo.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plataforma organiza-se por perguntas, não por tipo de dado. Por cliente há cinco áreas: Agora, Concorrentes, Comparar, Antecipar e Respostas. Ao nível da agência há a Torre, com todos os clientes, e a página de Fontes, que diz de onde vem cada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é o ecrã de segunda-feira. No topo, o movimento mais importante da semana; depois os indicadores, o resumo da semana e o fio de todos os movimentos, com filtros. Ao lado: o que vem a seguir, quem aparece nas pesquisas do cliente e quem está no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concorrente tem uma ficha viva: o estado atual, o ritmo calculado a partir de dois anos de histórico, a linha temporal com o que já fez e o que se espera, a biblioteca de criativos e uma leitura de como comunica, comparada com o cliente. A classificação dos criativos é automática e marcada como estimada.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põe todas as marcas lado a lado: quota de voz, investimento estimado (sempre etiquetado como estimado, com o método), presença nas pesquisas do cliente e preço. O mapa de mensagens mostra a parte dos criativos de cada marca por território e destaca o espaço livre, onde nenhum concorrente está a sério.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mostra as próximas 12 semanas. As previsões vêm de três padrões visíveis no histórico: campanhas que se repetem na mesma altura do ano, o ritmo das promoções e testes de criativos que costumam anteceder campanhas. Cada previsão mostra a janela, a confiança e o método. É antecipação acionável, não adivinhação.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plano de meios do cliente entra em Antecipar. Para cada campanha planeada, o Radar mostra o que se espera da concorrência nas mesmas semanas. Quando é no mesmo território e com confiança alta ou média, é um choque. No exemplo, a campanha de preço da Vetra cai na semana em que a Kaldo costuma fazer Black Friday. Na versão ligada, o plano vem da ferramenta de planeamento da agência e nunca sai do ambiente da agência.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respostas são o que torna o Radar acionável. Combina-se com o cliente, de antemão, o que fazer em cada tipo de movimento. Quando o movimento acontece, o Radar mostra a resposta que lhe corresponde e o estado dela. Ativar é sempre decisão da equipa. A página também mostra as lacunas: movimentos importantes para os quais ainda não há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resumo de segunda-feira vem escrito: o essencial em 30 segundos, os pontos da semana, as decisões para a equipa e um rascunho de email para o cliente. Pode ser redigido por IA, mas fica sempre por rever, e o email só se copia depois de revisto. A IA também classifica os criativos (oferta, tom, público). Ao modelo só seguem dados públicos. Na demonstração tudo isto é feito por regras; a IA real depende da aprovação de IT e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versão ligada, os dados vêm sobretudo de fontes públicas oficiais: as bibliotecas de anúncios da Meta, Google, TikTok e LinkedIn, preços publicados e notícias. Os dados de pesquisa paga vêm das contas do próprio cliente, com autorização. O investimento em meios tradicionais vem de uma fonte licenciada. Nenhuma está ligada ainda; os termos de uso estão a validar com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regras de base. A plataforma sugere e a equipa decide. Nada chega ao cliente sem decisão da equipa. Cada dado diz a sua origem. Os dados do cliente nunca saem do ambiente da agência. Na demonstração só se usam marcas fictícias. E tudo o que é técnico ou de dados está documentado no dossier, porque o grupo tem regras exigentes de governação.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Estado: o conceito e o protótipo estão feitos. Os métodos de deteção, importância, previsões e choques funcionam com dados simulados e falta prová-los com dados reais. O próximo passo proposto é um teste de duas semanas com fontes públicas; se correr bem, um piloto de seis semanas com uma equipa de conta; e só depois a versão ligada.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ver o Radar a funcionar, o protótipo tem um percurso guiado de sete passos. A especificação completa e o dossier de governação estão no repositório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F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14400" cy="9144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pic>
        <p:nvPicPr>
          <p:cNvPr id="3" name="Image 0" descr="/home/user/arenaradar/assets/arena_media_portuga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621792"/>
            <a:ext cx="768096" cy="768096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148840"/>
            <a:ext cx="8686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52044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4F3"/>
                </a:solidFill>
              </a:rPr>
              <a:t>O que é e como funciona · Outubro 2026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F5C"/>
                </a:solidFill>
              </a:rPr>
              <a:t>Arena Radar · O que é e como funciona · Outubro 2026</a:t>
            </a:r>
            <a:endParaRPr lang="en-US" sz="1000" dirty="0"/>
          </a:p>
        </p:txBody>
      </p:sp>
      <p:pic>
        <p:nvPicPr>
          <p:cNvPr id="3" name="Image 0" descr="/home/user/arenaradar/assets/arena_media_portuga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72784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F2623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rgbClr val="0F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Shape 0"/>
          <p:cNvSpPr/>
          <p:nvPr/>
        </p:nvSpPr>
        <p:spPr>
          <a:xfrm>
            <a:off x="11076127" y="6053328"/>
            <a:ext cx="566928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/>
        </p:spPr>
      </p:sp>
      <p:pic>
        <p:nvPicPr>
          <p:cNvPr id="4" name="Image 0" descr="/home/user/arenaradar/assets/arena_media_portuga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1847" y="6099048"/>
            <a:ext cx="475488" cy="4754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4F3"/>
                </a:solidFill>
              </a:rPr>
              <a:t>Arena Radar · O que é e como funciona · Outubro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7145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1F4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14884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Arena Radar</a:t>
            </a:r>
            <a:endParaRPr lang="en-US" sz="6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5204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 radar de movimentos da concorrência</a:t>
            </a:r>
            <a:endParaRPr lang="en-US" sz="2400" dirty="0"/>
          </a:p>
        </p:txBody>
      </p:sp>
      <p:sp>
        <p:nvSpPr>
          <p:cNvPr id="4" name="radar 0"/>
          <p:cNvSpPr/>
          <p:nvPr/>
        </p:nvSpPr>
        <p:spPr>
          <a:xfrm>
            <a:off x="9052560" y="1965960"/>
            <a:ext cx="2926080" cy="2926080"/>
          </a:xfrm>
          <a:prstGeom prst="ellipse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radar 1"/>
          <p:cNvSpPr/>
          <p:nvPr/>
        </p:nvSpPr>
        <p:spPr>
          <a:xfrm>
            <a:off x="9464040" y="2377440"/>
            <a:ext cx="2103120" cy="2103120"/>
          </a:xfrm>
          <a:prstGeom prst="ellipse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radar 2"/>
          <p:cNvSpPr/>
          <p:nvPr/>
        </p:nvSpPr>
        <p:spPr>
          <a:xfrm>
            <a:off x="9875520" y="2788920"/>
            <a:ext cx="1280160" cy="1280160"/>
          </a:xfrm>
          <a:prstGeom prst="ellipse">
            <a:avLst/>
          </a:prstGeom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varrimento"/>
          <p:cNvSpPr/>
          <p:nvPr/>
        </p:nvSpPr>
        <p:spPr>
          <a:xfrm>
            <a:off x="10515600" y="1965960"/>
            <a:ext cx="0" cy="1463040"/>
          </a:xfrm>
          <a:prstGeom prst="line">
            <a:avLst/>
          </a:prstGeom>
          <a:noFill/>
          <a:ln w="19050">
            <a:solidFill>
              <a:srgbClr val="FFDC32"/>
            </a:solidFill>
            <a:prstDash val="solid"/>
          </a:ln>
        </p:spPr>
      </p:sp>
      <p:sp>
        <p:nvSpPr>
          <p:cNvPr id="8" name="sinal"/>
          <p:cNvSpPr/>
          <p:nvPr/>
        </p:nvSpPr>
        <p:spPr>
          <a:xfrm>
            <a:off x="11082528" y="2514600"/>
            <a:ext cx="164592" cy="164592"/>
          </a:xfrm>
          <a:prstGeom prst="ellipse">
            <a:avLst/>
          </a:prstGeom>
          <a:solidFill>
            <a:srgbClr val="FFDC32"/>
          </a:solidFill>
          <a:ln w="12700">
            <a:solidFill>
              <a:srgbClr val="FFDC3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Em poucas palavras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2623"/>
                </a:solidFill>
              </a:rPr>
              <a:t>O Arena Radar segue tudo o que os concorrentes dos nossos clientes fazem e põe a equipa de conta à frente desses movimentos.</a:t>
            </a:r>
            <a:endParaRPr lang="en-US" sz="2400" dirty="0"/>
          </a:p>
        </p:txBody>
      </p:sp>
      <p:sp>
        <p:nvSpPr>
          <p:cNvPr id="4" name="Ver primeiro"/>
          <p:cNvSpPr/>
          <p:nvPr/>
        </p:nvSpPr>
        <p:spPr>
          <a:xfrm>
            <a:off x="548640" y="2880360"/>
            <a:ext cx="3515258" cy="2971800"/>
          </a:xfrm>
          <a:prstGeom prst="roundRect">
            <a:avLst>
              <a:gd name="adj" fmla="val 3692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5" name="numero 1"/>
          <p:cNvSpPr/>
          <p:nvPr/>
        </p:nvSpPr>
        <p:spPr>
          <a:xfrm>
            <a:off x="822960" y="315468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623"/>
                </a:solidFill>
              </a:rPr>
              <a:t>Ver primeiro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F5C"/>
                </a:solidFill>
              </a:rPr>
              <a:t>Saber em dias, não no relatório do mês seguinte. Tudo o que os concorrentes fazem, num só fio.</a:t>
            </a:r>
            <a:endParaRPr lang="en-US" sz="1400" dirty="0"/>
          </a:p>
        </p:txBody>
      </p:sp>
      <p:sp>
        <p:nvSpPr>
          <p:cNvPr id="9" name="Perceber o padrão"/>
          <p:cNvSpPr/>
          <p:nvPr/>
        </p:nvSpPr>
        <p:spPr>
          <a:xfrm>
            <a:off x="4338218" y="2880360"/>
            <a:ext cx="3515258" cy="2971800"/>
          </a:xfrm>
          <a:prstGeom prst="roundRect">
            <a:avLst>
              <a:gd name="adj" fmla="val 3692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0" name="numero 2"/>
          <p:cNvSpPr/>
          <p:nvPr/>
        </p:nvSpPr>
        <p:spPr>
          <a:xfrm>
            <a:off x="4612538" y="315468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7490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623"/>
                </a:solidFill>
              </a:rPr>
              <a:t>Perceber o padrão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42976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F5C"/>
                </a:solidFill>
              </a:rPr>
              <a:t>Cada marca tem um ritmo. Com o histórico, antecipa-se a próxima vaga e o que costuma vir a seguir.</a:t>
            </a:r>
            <a:endParaRPr lang="en-US" sz="1400" dirty="0"/>
          </a:p>
        </p:txBody>
      </p:sp>
      <p:sp>
        <p:nvSpPr>
          <p:cNvPr id="14" name="Responder depressa"/>
          <p:cNvSpPr/>
          <p:nvPr/>
        </p:nvSpPr>
        <p:spPr>
          <a:xfrm>
            <a:off x="8127797" y="2880360"/>
            <a:ext cx="3515258" cy="2971800"/>
          </a:xfrm>
          <a:prstGeom prst="roundRect">
            <a:avLst>
              <a:gd name="adj" fmla="val 3692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5" name="numero 3"/>
          <p:cNvSpPr/>
          <p:nvPr/>
        </p:nvSpPr>
        <p:spPr>
          <a:xfrm>
            <a:off x="8402117" y="315468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2117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374904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623"/>
                </a:solidFill>
              </a:rPr>
              <a:t>Responder depressa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42976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F5C"/>
                </a:solidFill>
              </a:rPr>
              <a:t>Respostas combinadas de antemão com o cliente. Quando o movimento acontece, a equipa decide ativar.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Porque precisamos dele</a:t>
            </a:r>
            <a:endParaRPr lang="en-US" sz="3200" dirty="0"/>
          </a:p>
        </p:txBody>
      </p:sp>
      <p:sp>
        <p:nvSpPr>
          <p:cNvPr id="3" name="Os clientes querem antecipação"/>
          <p:cNvSpPr/>
          <p:nvPr/>
        </p:nvSpPr>
        <p:spPr>
          <a:xfrm>
            <a:off x="548640" y="1417320"/>
            <a:ext cx="3515258" cy="3246120"/>
          </a:xfrm>
          <a:prstGeom prst="roundRect">
            <a:avLst>
              <a:gd name="adj" fmla="val 338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4" name="numero 1"/>
          <p:cNvSpPr/>
          <p:nvPr/>
        </p:nvSpPr>
        <p:spPr>
          <a:xfrm>
            <a:off x="868680" y="173736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623"/>
                </a:solidFill>
              </a:rPr>
              <a:t>Os clientes querem antecipação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F5C"/>
                </a:solidFill>
              </a:rPr>
              <a:t>Esperam que a agência antecipe os movimentos da concorrência, não que os relate no fim do mês.</a:t>
            </a:r>
            <a:endParaRPr lang="en-US" sz="1400" dirty="0"/>
          </a:p>
        </p:txBody>
      </p:sp>
      <p:sp>
        <p:nvSpPr>
          <p:cNvPr id="8" name="Não cabe no tempo das equipas"/>
          <p:cNvSpPr/>
          <p:nvPr/>
        </p:nvSpPr>
        <p:spPr>
          <a:xfrm>
            <a:off x="4338218" y="1417320"/>
            <a:ext cx="3515258" cy="3246120"/>
          </a:xfrm>
          <a:prstGeom prst="roundRect">
            <a:avLst>
              <a:gd name="adj" fmla="val 338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9" name="numero 2"/>
          <p:cNvSpPr/>
          <p:nvPr/>
        </p:nvSpPr>
        <p:spPr>
          <a:xfrm>
            <a:off x="4658258" y="173736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25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2377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623"/>
                </a:solidFill>
              </a:rPr>
              <a:t>Não cabe no tempo das equipas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324612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F5C"/>
                </a:solidFill>
              </a:rPr>
              <a:t>Seguir a concorrência de forma contínua não cabe no dia a dia das equipas de conta. Hoje é pontual e manual.</a:t>
            </a:r>
            <a:endParaRPr lang="en-US" sz="1400" dirty="0"/>
          </a:p>
        </p:txBody>
      </p:sp>
      <p:sp>
        <p:nvSpPr>
          <p:cNvPr id="13" name="O diferencial mudou"/>
          <p:cNvSpPr/>
          <p:nvPr/>
        </p:nvSpPr>
        <p:spPr>
          <a:xfrm>
            <a:off x="8127797" y="1417320"/>
            <a:ext cx="3515258" cy="3246120"/>
          </a:xfrm>
          <a:prstGeom prst="roundRect">
            <a:avLst>
              <a:gd name="adj" fmla="val 338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4" name="numero 3"/>
          <p:cNvSpPr/>
          <p:nvPr/>
        </p:nvSpPr>
        <p:spPr>
          <a:xfrm>
            <a:off x="8447837" y="173736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7837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47837" y="237744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623"/>
                </a:solidFill>
              </a:rPr>
              <a:t>O diferencial mudou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47837" y="3246120"/>
            <a:ext cx="28751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F5C"/>
                </a:solidFill>
              </a:rPr>
              <a:t>Bibliotecas de anúncios, preços publicados e notícias estão ao alcance de todos. Conta ver a tempo e saber o que fazer.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0F2623"/>
                </a:solidFill>
              </a:rPr>
              <a:t>O Radar não vende vigilância. Vende tempo: saber antes, com prova, e já com uma resposta combinada.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O movimento é o centro do Radar</a:t>
            </a:r>
            <a:endParaRPr lang="en-US" sz="3200" dirty="0"/>
          </a:p>
        </p:txBody>
      </p:sp>
      <p:graphicFrame>
        <p:nvGraphicFramePr>
          <p:cNvPr id="5" name="tipos de movimen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  <a:gridCol w="286481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Prova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2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623"/>
                          </a:solidFill>
                        </a:rPr>
                        <a:t>Campanha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A Norvo lançou «Regresso às Rotinas»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Criativos, canais, oferta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623"/>
                          </a:solidFill>
                        </a:rPr>
                        <a:t>Promoção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A Kaldo baixou 8 cêntimos por litro ao fim de semana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Criativos, série de preço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623"/>
                          </a:solidFill>
                        </a:rPr>
                        <a:t>Preço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A Kaldo está 4 cêntimos por litro abaixo da média do mercado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Série de preço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623"/>
                          </a:solidFill>
                        </a:rPr>
                        <a:t>Lançamento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A Gema lançou entregas em 1 hora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Criativos, notícia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623"/>
                          </a:solidFill>
                        </a:rPr>
                        <a:t>Teste de criativos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A Duna está a testar 12 criativos com pouco alcance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Criativos de teste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623"/>
                          </a:solidFill>
                        </a:rPr>
                        <a:t>Pesquisa paga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A Ondal aparece em 53% das pesquisas da Vetra (+14 p.p.)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Dados de leilão do cliente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623"/>
                          </a:solidFill>
                        </a:rPr>
                        <a:t>Imprensa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A Frescal abre 6 lojas no Norte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E5F5C"/>
                          </a:solidFill>
                        </a:rPr>
                        <a:t>Notícia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Um movimento é algo que um concorrente fez e que se pode provar. Exemplos com marcas fictícias da demonstração.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Cada movimento responde a quatro perguntas</a:t>
            </a:r>
            <a:endParaRPr lang="en-US" sz="3200" dirty="0"/>
          </a:p>
        </p:txBody>
      </p:sp>
      <p:pic>
        <p:nvPicPr>
          <p:cNvPr id="3" name="Captura do detalhe de um movimento" descr="Captura do detalhe de um movi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348736" cy="4709160"/>
          </a:xfrm>
          <a:prstGeom prst="rect">
            <a:avLst/>
          </a:prstGeom>
        </p:spPr>
      </p:pic>
      <p:sp>
        <p:nvSpPr>
          <p:cNvPr id="4" name="moldura"/>
          <p:cNvSpPr/>
          <p:nvPr/>
        </p:nvSpPr>
        <p:spPr>
          <a:xfrm>
            <a:off x="548640" y="1325880"/>
            <a:ext cx="3348736" cy="4709160"/>
          </a:xfrm>
          <a:prstGeom prst="roundRect">
            <a:avLst>
              <a:gd name="adj" fmla="val 1638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60899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</a:t>
            </a:r>
            <a:endParaRPr lang="en-US" sz="1100" dirty="0"/>
          </a:p>
        </p:txBody>
      </p:sp>
      <p:sp>
        <p:nvSpPr>
          <p:cNvPr id="6" name="numero 1"/>
          <p:cNvSpPr/>
          <p:nvPr/>
        </p:nvSpPr>
        <p:spPr>
          <a:xfrm>
            <a:off x="4400296" y="137160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00296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994656" y="1353312"/>
            <a:ext cx="66483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Qual é a prova?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994656" y="1773936"/>
            <a:ext cx="664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Os criativos, a série de preço ou os dados de pesquisa que mostram o movimento.</a:t>
            </a:r>
            <a:endParaRPr lang="en-US" sz="1300" dirty="0"/>
          </a:p>
        </p:txBody>
      </p:sp>
      <p:sp>
        <p:nvSpPr>
          <p:cNvPr id="10" name="numero 2"/>
          <p:cNvSpPr/>
          <p:nvPr/>
        </p:nvSpPr>
        <p:spPr>
          <a:xfrm>
            <a:off x="4400296" y="2359152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00296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94656" y="2340864"/>
            <a:ext cx="66483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Porque importa?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994656" y="2761488"/>
            <a:ext cx="664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Uma soma de pontos visível: peso, tipo, território onde o cliente compete, resposta combinada, novidade, sinal precoce.</a:t>
            </a:r>
            <a:endParaRPr lang="en-US" sz="1300" dirty="0"/>
          </a:p>
        </p:txBody>
      </p:sp>
      <p:sp>
        <p:nvSpPr>
          <p:cNvPr id="14" name="numero 3"/>
          <p:cNvSpPr/>
          <p:nvPr/>
        </p:nvSpPr>
        <p:spPr>
          <a:xfrm>
            <a:off x="4400296" y="3346704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00296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994656" y="3328416"/>
            <a:ext cx="66483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O que costuma vir a seguir?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994656" y="3749040"/>
            <a:ext cx="664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 que a mesma marca fez depois de movimentos parecidos, pelo seu histórico.</a:t>
            </a:r>
            <a:endParaRPr lang="en-US" sz="1300" dirty="0"/>
          </a:p>
        </p:txBody>
      </p:sp>
      <p:sp>
        <p:nvSpPr>
          <p:cNvPr id="18" name="numero 4"/>
          <p:cNvSpPr/>
          <p:nvPr/>
        </p:nvSpPr>
        <p:spPr>
          <a:xfrm>
            <a:off x="4400296" y="4334256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00296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994656" y="4315968"/>
            <a:ext cx="66483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Temos resposta?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994656" y="4736592"/>
            <a:ext cx="6648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As respostas combinadas com o cliente que correspondem a este movimento, e o estado de cada uma.</a:t>
            </a:r>
            <a:endParaRPr lang="en-US" sz="1300" dirty="0"/>
          </a:p>
        </p:txBody>
      </p:sp>
      <p:sp>
        <p:nvSpPr>
          <p:cNvPr id="22" name="nível Importante"/>
          <p:cNvSpPr/>
          <p:nvPr/>
        </p:nvSpPr>
        <p:spPr>
          <a:xfrm>
            <a:off x="4400296" y="5440680"/>
            <a:ext cx="2292333" cy="640080"/>
          </a:xfrm>
          <a:prstGeom prst="roundRect">
            <a:avLst>
              <a:gd name="adj" fmla="val 14286"/>
            </a:avLst>
          </a:prstGeom>
          <a:solidFill>
            <a:srgbClr val="FFF5C7"/>
          </a:solidFill>
          <a:ln w="12700">
            <a:solidFill>
              <a:srgbClr val="DCE3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83176" y="5504688"/>
            <a:ext cx="1926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4B00"/>
                </a:solidFill>
              </a:rPr>
              <a:t>Importante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83176" y="5788152"/>
            <a:ext cx="1926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F5C"/>
                </a:solidFill>
              </a:rPr>
              <a:t>75 pontos ou mais</a:t>
            </a:r>
            <a:endParaRPr lang="en-US" sz="1100" dirty="0"/>
          </a:p>
        </p:txBody>
      </p:sp>
      <p:sp>
        <p:nvSpPr>
          <p:cNvPr id="25" name="nível A acompanhar"/>
          <p:cNvSpPr/>
          <p:nvPr/>
        </p:nvSpPr>
        <p:spPr>
          <a:xfrm>
            <a:off x="6875509" y="5440680"/>
            <a:ext cx="2292333" cy="640080"/>
          </a:xfrm>
          <a:prstGeom prst="roundRect">
            <a:avLst>
              <a:gd name="adj" fmla="val 14286"/>
            </a:avLst>
          </a:prstGeom>
          <a:solidFill>
            <a:srgbClr val="F1F4F3"/>
          </a:solidFill>
          <a:ln w="12700">
            <a:solidFill>
              <a:srgbClr val="DCE3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8389" y="5504688"/>
            <a:ext cx="1926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5F5C"/>
                </a:solidFill>
              </a:rPr>
              <a:t>A acompanhar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058389" y="5788152"/>
            <a:ext cx="1926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F5C"/>
                </a:solidFill>
              </a:rPr>
              <a:t>50 a 74 pontos</a:t>
            </a:r>
            <a:endParaRPr lang="en-US" sz="1100" dirty="0"/>
          </a:p>
        </p:txBody>
      </p:sp>
      <p:sp>
        <p:nvSpPr>
          <p:cNvPr id="28" name="nível Informativo"/>
          <p:cNvSpPr/>
          <p:nvPr/>
        </p:nvSpPr>
        <p:spPr>
          <a:xfrm>
            <a:off x="9350722" y="5440680"/>
            <a:ext cx="2292333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3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33602" y="5504688"/>
            <a:ext cx="1926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E5F5C"/>
                </a:solidFill>
              </a:rPr>
              <a:t>Informativo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533602" y="5788152"/>
            <a:ext cx="19265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5F5C"/>
                </a:solidFill>
              </a:rPr>
              <a:t>abaixo de 50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Cinco áreas, cinco perguntas da equipa de conta</a:t>
            </a:r>
            <a:endParaRPr lang="en-US" sz="3200" dirty="0"/>
          </a:p>
        </p:txBody>
      </p:sp>
      <p:sp>
        <p:nvSpPr>
          <p:cNvPr id="3" name="Agora"/>
          <p:cNvSpPr/>
          <p:nvPr/>
        </p:nvSpPr>
        <p:spPr>
          <a:xfrm>
            <a:off x="548640" y="1371600"/>
            <a:ext cx="2072579" cy="2926080"/>
          </a:xfrm>
          <a:prstGeom prst="roundRect">
            <a:avLst>
              <a:gd name="adj" fmla="val 5294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16153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623"/>
                </a:solidFill>
              </a:rPr>
              <a:t>Agora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29968"/>
            <a:ext cx="1615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623"/>
                </a:solidFill>
              </a:rPr>
              <a:t>O que mexeu esta semana?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O movimento mais importante, o resumo da semana e o fio de movimentos com prova.</a:t>
            </a:r>
            <a:endParaRPr lang="en-US" sz="1200" dirty="0"/>
          </a:p>
        </p:txBody>
      </p:sp>
      <p:sp>
        <p:nvSpPr>
          <p:cNvPr id="7" name="Concorrentes"/>
          <p:cNvSpPr/>
          <p:nvPr/>
        </p:nvSpPr>
        <p:spPr>
          <a:xfrm>
            <a:off x="2804099" y="1371600"/>
            <a:ext cx="2072579" cy="2926080"/>
          </a:xfrm>
          <a:prstGeom prst="roundRect">
            <a:avLst>
              <a:gd name="adj" fmla="val 5294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2699" y="1572768"/>
            <a:ext cx="16153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623"/>
                </a:solidFill>
              </a:rPr>
              <a:t>Concorrentes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32699" y="2029968"/>
            <a:ext cx="1615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623"/>
                </a:solidFill>
              </a:rPr>
              <a:t>Como age cada marca?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32699" y="274320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Ficha viva: ritmo, linha temporal, criativos e como comunica.</a:t>
            </a:r>
            <a:endParaRPr lang="en-US" sz="1200" dirty="0"/>
          </a:p>
        </p:txBody>
      </p:sp>
      <p:sp>
        <p:nvSpPr>
          <p:cNvPr id="11" name="Comparar"/>
          <p:cNvSpPr/>
          <p:nvPr/>
        </p:nvSpPr>
        <p:spPr>
          <a:xfrm>
            <a:off x="5059558" y="1371600"/>
            <a:ext cx="2072579" cy="2926080"/>
          </a:xfrm>
          <a:prstGeom prst="roundRect">
            <a:avLst>
              <a:gd name="adj" fmla="val 5294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88158" y="1572768"/>
            <a:ext cx="16153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623"/>
                </a:solidFill>
              </a:rPr>
              <a:t>Comparar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88158" y="2029968"/>
            <a:ext cx="1615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623"/>
                </a:solidFill>
              </a:rPr>
              <a:t>Quem pesa mais e onde?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88158" y="274320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Quota de voz, investimento estimado, mensagens, preço e pesquisa paga.</a:t>
            </a:r>
            <a:endParaRPr lang="en-US" sz="1200" dirty="0"/>
          </a:p>
        </p:txBody>
      </p:sp>
      <p:sp>
        <p:nvSpPr>
          <p:cNvPr id="15" name="Antecipar"/>
          <p:cNvSpPr/>
          <p:nvPr/>
        </p:nvSpPr>
        <p:spPr>
          <a:xfrm>
            <a:off x="7315017" y="1371600"/>
            <a:ext cx="2072579" cy="2926080"/>
          </a:xfrm>
          <a:prstGeom prst="roundRect">
            <a:avLst>
              <a:gd name="adj" fmla="val 5294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617" y="1572768"/>
            <a:ext cx="16153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623"/>
                </a:solidFill>
              </a:rPr>
              <a:t>Antecipar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43617" y="2029968"/>
            <a:ext cx="1615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623"/>
                </a:solidFill>
              </a:rPr>
              <a:t>O que vem aí?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543617" y="274320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As próximas 12 semanas pelo histórico, sinais precoces e o plano do cliente.</a:t>
            </a:r>
            <a:endParaRPr lang="en-US" sz="1200" dirty="0"/>
          </a:p>
        </p:txBody>
      </p:sp>
      <p:sp>
        <p:nvSpPr>
          <p:cNvPr id="19" name="Respostas"/>
          <p:cNvSpPr/>
          <p:nvPr/>
        </p:nvSpPr>
        <p:spPr>
          <a:xfrm>
            <a:off x="9570476" y="1371600"/>
            <a:ext cx="2072579" cy="2926080"/>
          </a:xfrm>
          <a:prstGeom prst="roundRect">
            <a:avLst>
              <a:gd name="adj" fmla="val 5294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9076" y="1572768"/>
            <a:ext cx="16153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623"/>
                </a:solidFill>
              </a:rPr>
              <a:t>Respostas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99076" y="2029968"/>
            <a:ext cx="1615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623"/>
                </a:solidFill>
              </a:rPr>
              <a:t>Estamos prontos?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99076" y="274320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O que está combinado com o cliente para cada tipo de movimento.</a:t>
            </a:r>
            <a:endParaRPr lang="en-US" sz="1200" dirty="0"/>
          </a:p>
        </p:txBody>
      </p:sp>
      <p:sp>
        <p:nvSpPr>
          <p:cNvPr id="23" name="Torre (agência)"/>
          <p:cNvSpPr/>
          <p:nvPr/>
        </p:nvSpPr>
        <p:spPr>
          <a:xfrm>
            <a:off x="548640" y="45262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72744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Torre (agência)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16636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4F3"/>
                </a:solidFill>
              </a:rPr>
              <a:t>Todos os clientes da agência lado a lado: o que é importante esta semana e o que vem a seguir em cada um.</a:t>
            </a:r>
            <a:endParaRPr lang="en-US" sz="1300" dirty="0"/>
          </a:p>
        </p:txBody>
      </p:sp>
      <p:sp>
        <p:nvSpPr>
          <p:cNvPr id="26" name="Fontes de dados"/>
          <p:cNvSpPr/>
          <p:nvPr/>
        </p:nvSpPr>
        <p:spPr>
          <a:xfrm>
            <a:off x="6233008" y="45262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7328" y="472744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Fontes de dados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507328" y="516636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4F3"/>
                </a:solidFill>
              </a:rPr>
              <a:t>De onde vem cada dado na versão ligada, com o regime (oficial, licenciada, dados do cliente) e o estado.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Agora: o que mexeu esta semana</a:t>
            </a:r>
            <a:endParaRPr lang="en-US" sz="3200" dirty="0"/>
          </a:p>
        </p:txBody>
      </p:sp>
      <p:pic>
        <p:nvPicPr>
          <p:cNvPr id="3" name="Captura do ecrã Agora" descr="Captura do ecrã Ago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040880" cy="4400550"/>
          </a:xfrm>
          <a:prstGeom prst="rect">
            <a:avLst/>
          </a:prstGeom>
        </p:spPr>
      </p:pic>
      <p:sp>
        <p:nvSpPr>
          <p:cNvPr id="4" name="moldura"/>
          <p:cNvSpPr/>
          <p:nvPr/>
        </p:nvSpPr>
        <p:spPr>
          <a:xfrm>
            <a:off x="548640" y="1371600"/>
            <a:ext cx="7040880" cy="4400550"/>
          </a:xfrm>
          <a:prstGeom prst="roundRect">
            <a:avLst>
              <a:gd name="adj" fmla="val 1247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84530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</a:t>
            </a:r>
            <a:endParaRPr lang="en-US" sz="1100" dirty="0"/>
          </a:p>
        </p:txBody>
      </p:sp>
      <p:sp>
        <p:nvSpPr>
          <p:cNvPr id="6" name="numero 1"/>
          <p:cNvSpPr/>
          <p:nvPr/>
        </p:nvSpPr>
        <p:spPr>
          <a:xfrm>
            <a:off x="8001000" y="141732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1399032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O mais importante no topo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1819656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 primeiro ecrã diz logo o que importa e quantos movimentos têm resposta pronta.</a:t>
            </a:r>
            <a:endParaRPr lang="en-US" sz="1300" dirty="0"/>
          </a:p>
        </p:txBody>
      </p:sp>
      <p:sp>
        <p:nvSpPr>
          <p:cNvPr id="10" name="numero 2"/>
          <p:cNvSpPr/>
          <p:nvPr/>
        </p:nvSpPr>
        <p:spPr>
          <a:xfrm>
            <a:off x="8001000" y="288036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862072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Indicadores da semana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3282696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Movimentos, importantes, concorrentes no ar e o próximo movimento esperado.</a:t>
            </a:r>
            <a:endParaRPr lang="en-US" sz="1300" dirty="0"/>
          </a:p>
        </p:txBody>
      </p:sp>
      <p:sp>
        <p:nvSpPr>
          <p:cNvPr id="14" name="numero 3"/>
          <p:cNvSpPr/>
          <p:nvPr/>
        </p:nvSpPr>
        <p:spPr>
          <a:xfrm>
            <a:off x="8001000" y="434340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4325112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O fio de movimentos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4745736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Filtros por tipo, marca e período; cada cartão abre a prova e o porquê.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Concorrentes: a ficha viva de cada marca</a:t>
            </a:r>
            <a:endParaRPr lang="en-US" sz="3200" dirty="0"/>
          </a:p>
        </p:txBody>
      </p:sp>
      <p:pic>
        <p:nvPicPr>
          <p:cNvPr id="3" name="Captura da ficha de um concorrente" descr="Captura da ficha de um concorr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040880" cy="4400550"/>
          </a:xfrm>
          <a:prstGeom prst="rect">
            <a:avLst/>
          </a:prstGeom>
        </p:spPr>
      </p:pic>
      <p:sp>
        <p:nvSpPr>
          <p:cNvPr id="4" name="moldura"/>
          <p:cNvSpPr/>
          <p:nvPr/>
        </p:nvSpPr>
        <p:spPr>
          <a:xfrm>
            <a:off x="548640" y="1371600"/>
            <a:ext cx="7040880" cy="4400550"/>
          </a:xfrm>
          <a:prstGeom prst="roundRect">
            <a:avLst>
              <a:gd name="adj" fmla="val 1247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84530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</a:t>
            </a:r>
            <a:endParaRPr lang="en-US" sz="1100" dirty="0"/>
          </a:p>
        </p:txBody>
      </p:sp>
      <p:sp>
        <p:nvSpPr>
          <p:cNvPr id="6" name="numero 1"/>
          <p:cNvSpPr/>
          <p:nvPr/>
        </p:nvSpPr>
        <p:spPr>
          <a:xfrm>
            <a:off x="8001000" y="141732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1399032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Ritmo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1819656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Campanhas por ano, duração, meses fortes, promoções e se testa criativos antes.</a:t>
            </a:r>
            <a:endParaRPr lang="en-US" sz="1300" dirty="0"/>
          </a:p>
        </p:txBody>
      </p:sp>
      <p:sp>
        <p:nvSpPr>
          <p:cNvPr id="10" name="numero 2"/>
          <p:cNvSpPr/>
          <p:nvPr/>
        </p:nvSpPr>
        <p:spPr>
          <a:xfrm>
            <a:off x="8001000" y="288036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2862072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Linha temporal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3282696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Os últimos 12 meses e as próximas 12 semanas, com o que se espera a tracejado.</a:t>
            </a:r>
            <a:endParaRPr lang="en-US" sz="1300" dirty="0"/>
          </a:p>
        </p:txBody>
      </p:sp>
      <p:sp>
        <p:nvSpPr>
          <p:cNvPr id="14" name="numero 3"/>
          <p:cNvSpPr/>
          <p:nvPr/>
        </p:nvSpPr>
        <p:spPr>
          <a:xfrm>
            <a:off x="8001000" y="434340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4325112"/>
            <a:ext cx="3047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Criativos e mensagens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0" y="4745736"/>
            <a:ext cx="3047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Biblioteca de criativos e como a marca comunica: oferta, tom e público, ao lado do cliente.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Comparar: quem pesa mais e onde</a:t>
            </a:r>
            <a:endParaRPr lang="en-US" sz="3200" dirty="0"/>
          </a:p>
        </p:txBody>
      </p:sp>
      <p:pic>
        <p:nvPicPr>
          <p:cNvPr id="3" name="Captura do mapa de mensagens" descr="Captura do mapa de mensag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229600" cy="2596928"/>
          </a:xfrm>
          <a:prstGeom prst="rect">
            <a:avLst/>
          </a:prstGeom>
        </p:spPr>
      </p:pic>
      <p:sp>
        <p:nvSpPr>
          <p:cNvPr id="4" name="moldura"/>
          <p:cNvSpPr/>
          <p:nvPr/>
        </p:nvSpPr>
        <p:spPr>
          <a:xfrm>
            <a:off x="548640" y="1371600"/>
            <a:ext cx="8229600" cy="2596928"/>
          </a:xfrm>
          <a:prstGeom prst="roundRect">
            <a:avLst>
              <a:gd name="adj" fmla="val 2113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04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</a:t>
            </a:r>
            <a:endParaRPr lang="en-US" sz="1100" dirty="0"/>
          </a:p>
        </p:txBody>
      </p:sp>
      <p:sp>
        <p:nvSpPr>
          <p:cNvPr id="6" name="Espaço livre"/>
          <p:cNvSpPr/>
          <p:nvPr/>
        </p:nvSpPr>
        <p:spPr>
          <a:xfrm>
            <a:off x="9052560" y="1371600"/>
            <a:ext cx="2590495" cy="2596928"/>
          </a:xfrm>
          <a:prstGeom prst="roundRect">
            <a:avLst>
              <a:gd name="adj" fmla="val 4236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0" y="1572768"/>
            <a:ext cx="2041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623"/>
                </a:solidFill>
              </a:rPr>
              <a:t>Espaço livre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326880" y="2011680"/>
            <a:ext cx="2041855" cy="181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 mapa de mensagens mostra os territórios que nenhum concorrente ocupa a sério. É onde o cliente se pode diferenciar.</a:t>
            </a:r>
            <a:endParaRPr lang="en-US" sz="1300" dirty="0"/>
          </a:p>
        </p:txBody>
      </p:sp>
      <p:sp>
        <p:nvSpPr>
          <p:cNvPr id="9" name="Quota de voz"/>
          <p:cNvSpPr/>
          <p:nvPr/>
        </p:nvSpPr>
        <p:spPr>
          <a:xfrm>
            <a:off x="548640" y="4572000"/>
            <a:ext cx="2636444" cy="1463040"/>
          </a:xfrm>
          <a:prstGeom prst="roundRect">
            <a:avLst>
              <a:gd name="adj" fmla="val 75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773168"/>
            <a:ext cx="2087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Quota de voz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138928"/>
            <a:ext cx="20878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Parte dos anúncios ativos de cada marca, semana a semana.</a:t>
            </a:r>
            <a:endParaRPr lang="en-US" sz="1200" dirty="0"/>
          </a:p>
        </p:txBody>
      </p:sp>
      <p:sp>
        <p:nvSpPr>
          <p:cNvPr id="12" name="Investimento"/>
          <p:cNvSpPr/>
          <p:nvPr/>
        </p:nvSpPr>
        <p:spPr>
          <a:xfrm>
            <a:off x="3367964" y="4572000"/>
            <a:ext cx="2636444" cy="1463040"/>
          </a:xfrm>
          <a:prstGeom prst="roundRect">
            <a:avLst>
              <a:gd name="adj" fmla="val 75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42284" y="4773168"/>
            <a:ext cx="2087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Investimento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642284" y="5138928"/>
            <a:ext cx="20878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Estimado, em ordem de grandeza, com o método à vista.</a:t>
            </a:r>
            <a:endParaRPr lang="en-US" sz="1200" dirty="0"/>
          </a:p>
        </p:txBody>
      </p:sp>
      <p:sp>
        <p:nvSpPr>
          <p:cNvPr id="15" name="Pesquisa paga"/>
          <p:cNvSpPr/>
          <p:nvPr/>
        </p:nvSpPr>
        <p:spPr>
          <a:xfrm>
            <a:off x="6187288" y="4572000"/>
            <a:ext cx="2636444" cy="1463040"/>
          </a:xfrm>
          <a:prstGeom prst="roundRect">
            <a:avLst>
              <a:gd name="adj" fmla="val 75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1608" y="4773168"/>
            <a:ext cx="2087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Pesquisa paga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61608" y="5138928"/>
            <a:ext cx="20878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Quem aparece nas mesmas pesquisas que o cliente.</a:t>
            </a:r>
            <a:endParaRPr lang="en-US" sz="1200" dirty="0"/>
          </a:p>
        </p:txBody>
      </p:sp>
      <p:sp>
        <p:nvSpPr>
          <p:cNvPr id="18" name="Preço"/>
          <p:cNvSpPr/>
          <p:nvPr/>
        </p:nvSpPr>
        <p:spPr>
          <a:xfrm>
            <a:off x="9006611" y="4572000"/>
            <a:ext cx="2636444" cy="1463040"/>
          </a:xfrm>
          <a:prstGeom prst="roundRect">
            <a:avLst>
              <a:gd name="adj" fmla="val 75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80931" y="4773168"/>
            <a:ext cx="2087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Preço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280931" y="5138928"/>
            <a:ext cx="20878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Preço por marca e média do mercado, ou índice do cabaz.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Antecipar: o que vem aí nas próximas 12 semanas</a:t>
            </a:r>
            <a:endParaRPr lang="en-US" sz="3200" dirty="0"/>
          </a:p>
        </p:txBody>
      </p:sp>
      <p:pic>
        <p:nvPicPr>
          <p:cNvPr id="3" name="Captura das próximas 12 semanas" descr="Captura das próximas 12 sema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9837683" cy="2743200"/>
          </a:xfrm>
          <a:prstGeom prst="rect">
            <a:avLst/>
          </a:prstGeom>
        </p:spPr>
      </p:pic>
      <p:sp>
        <p:nvSpPr>
          <p:cNvPr id="4" name="moldura"/>
          <p:cNvSpPr/>
          <p:nvPr/>
        </p:nvSpPr>
        <p:spPr>
          <a:xfrm>
            <a:off x="548640" y="1325880"/>
            <a:ext cx="9837683" cy="2743200"/>
          </a:xfrm>
          <a:prstGeom prst="roundRect">
            <a:avLst>
              <a:gd name="adj" fmla="val 2000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1422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 Tracejado: o esperado pelo histórico. Última linha: o plano da Vetra.</a:t>
            </a:r>
            <a:endParaRPr lang="en-US" sz="1100" dirty="0"/>
          </a:p>
        </p:txBody>
      </p:sp>
      <p:sp>
        <p:nvSpPr>
          <p:cNvPr id="6" name="Séries que se repetem"/>
          <p:cNvSpPr/>
          <p:nvPr/>
        </p:nvSpPr>
        <p:spPr>
          <a:xfrm>
            <a:off x="548640" y="4572000"/>
            <a:ext cx="3515258" cy="1508760"/>
          </a:xfrm>
          <a:prstGeom prst="roundRect">
            <a:avLst>
              <a:gd name="adj" fmla="val 7273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7731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Séries que se repetem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38928"/>
            <a:ext cx="29666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A mesma campanha na mesma altura do ano. Janela pela variação entre anos; confiança pela regularidade.</a:t>
            </a:r>
            <a:endParaRPr lang="en-US" sz="1200" dirty="0"/>
          </a:p>
        </p:txBody>
      </p:sp>
      <p:sp>
        <p:nvSpPr>
          <p:cNvPr id="9" name="Ritmo de promoções"/>
          <p:cNvSpPr/>
          <p:nvPr/>
        </p:nvSpPr>
        <p:spPr>
          <a:xfrm>
            <a:off x="4338218" y="4572000"/>
            <a:ext cx="3515258" cy="1508760"/>
          </a:xfrm>
          <a:prstGeom prst="roundRect">
            <a:avLst>
              <a:gd name="adj" fmla="val 7273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2538" y="47731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Ritmo de promoções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612538" y="5138928"/>
            <a:ext cx="29666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A próxima promoção pela última e pelo intervalo habitual da marca.</a:t>
            </a:r>
            <a:endParaRPr lang="en-US" sz="1200" dirty="0"/>
          </a:p>
        </p:txBody>
      </p:sp>
      <p:sp>
        <p:nvSpPr>
          <p:cNvPr id="12" name="Sinais precoces"/>
          <p:cNvSpPr/>
          <p:nvPr/>
        </p:nvSpPr>
        <p:spPr>
          <a:xfrm>
            <a:off x="8127797" y="4572000"/>
            <a:ext cx="3515258" cy="1508760"/>
          </a:xfrm>
          <a:prstGeom prst="roundRect">
            <a:avLst>
              <a:gd name="adj" fmla="val 7273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02117" y="47731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Sinais precoces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402117" y="5138928"/>
            <a:ext cx="296661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Testes de criativos com pouco alcance que, no histórico, antecederam campanhas.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O nosso plano contra a concorrência</a:t>
            </a:r>
            <a:endParaRPr lang="en-US" sz="3200" dirty="0"/>
          </a:p>
        </p:txBody>
      </p:sp>
      <p:pic>
        <p:nvPicPr>
          <p:cNvPr id="3" name="Captura do plano do cliente e do que coincide" descr="Captura do plano do cliente e do que coinc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9144000" cy="2805545"/>
          </a:xfrm>
          <a:prstGeom prst="rect">
            <a:avLst/>
          </a:prstGeom>
        </p:spPr>
      </p:pic>
      <p:sp>
        <p:nvSpPr>
          <p:cNvPr id="4" name="moldura"/>
          <p:cNvSpPr/>
          <p:nvPr/>
        </p:nvSpPr>
        <p:spPr>
          <a:xfrm>
            <a:off x="548640" y="1325880"/>
            <a:ext cx="9144000" cy="2805545"/>
          </a:xfrm>
          <a:prstGeom prst="roundRect">
            <a:avLst>
              <a:gd name="adj" fmla="val 1956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204577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</a:t>
            </a:r>
            <a:endParaRPr lang="en-US" sz="1100" dirty="0"/>
          </a:p>
        </p:txBody>
      </p:sp>
      <p:sp>
        <p:nvSpPr>
          <p:cNvPr id="6" name="Choque"/>
          <p:cNvSpPr/>
          <p:nvPr/>
        </p:nvSpPr>
        <p:spPr>
          <a:xfrm>
            <a:off x="548640" y="46177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1888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623"/>
                </a:solidFill>
              </a:rPr>
              <a:t>Choque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25780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Uma campanha do plano do cliente coincide com um movimento esperado de um concorrente, no mesmo território e com confiança alta ou média.</a:t>
            </a:r>
            <a:endParaRPr lang="en-US" sz="1300" dirty="0"/>
          </a:p>
        </p:txBody>
      </p:sp>
      <p:sp>
        <p:nvSpPr>
          <p:cNvPr id="9" name="A equipa decide"/>
          <p:cNvSpPr/>
          <p:nvPr/>
        </p:nvSpPr>
        <p:spPr>
          <a:xfrm>
            <a:off x="6233008" y="46177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4818888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623"/>
                </a:solidFill>
              </a:rPr>
              <a:t>A equipa decide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5257800"/>
            <a:ext cx="486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Antecipar, mudar a mensagem ou manter. O choque entra nas decisões do resumo da semana.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Respostas: combinadas antes, ativadas pela equipa</a:t>
            </a:r>
            <a:endParaRPr lang="en-US" sz="3200" dirty="0"/>
          </a:p>
        </p:txBody>
      </p:sp>
      <p:sp>
        <p:nvSpPr>
          <p:cNvPr id="3" name="Combinar"/>
          <p:cNvSpPr/>
          <p:nvPr/>
        </p:nvSpPr>
        <p:spPr>
          <a:xfrm>
            <a:off x="548640" y="1371600"/>
            <a:ext cx="2533574" cy="1417320"/>
          </a:xfrm>
          <a:prstGeom prst="roundRect">
            <a:avLst>
              <a:gd name="adj" fmla="val 7742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4" name="numero 1"/>
          <p:cNvSpPr/>
          <p:nvPr/>
        </p:nvSpPr>
        <p:spPr>
          <a:xfrm>
            <a:off x="777240" y="1572768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91056"/>
            <a:ext cx="16191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623"/>
                </a:solidFill>
              </a:rPr>
              <a:t>Combinar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20763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Com o cliente: quando, o quê, quem e com que prazo.</a:t>
            </a:r>
            <a:endParaRPr lang="en-US" sz="1200" dirty="0"/>
          </a:p>
        </p:txBody>
      </p:sp>
      <p:sp>
        <p:nvSpPr>
          <p:cNvPr id="8" name="seta"/>
          <p:cNvSpPr/>
          <p:nvPr/>
        </p:nvSpPr>
        <p:spPr>
          <a:xfrm>
            <a:off x="3187370" y="1965960"/>
            <a:ext cx="109728" cy="219456"/>
          </a:xfrm>
          <a:prstGeom prst="chevron">
            <a:avLst/>
          </a:prstGeom>
          <a:solidFill>
            <a:srgbClr val="4E5F5C"/>
          </a:solidFill>
          <a:ln w="12700">
            <a:solidFill>
              <a:srgbClr val="4E5F5C"/>
            </a:solidFill>
            <a:prstDash val="solid"/>
          </a:ln>
        </p:spPr>
      </p:sp>
      <p:sp>
        <p:nvSpPr>
          <p:cNvPr id="9" name="Acontece"/>
          <p:cNvSpPr/>
          <p:nvPr/>
        </p:nvSpPr>
        <p:spPr>
          <a:xfrm>
            <a:off x="3402254" y="1371600"/>
            <a:ext cx="2533574" cy="1417320"/>
          </a:xfrm>
          <a:prstGeom prst="roundRect">
            <a:avLst>
              <a:gd name="adj" fmla="val 7742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0" name="numero 2"/>
          <p:cNvSpPr/>
          <p:nvPr/>
        </p:nvSpPr>
        <p:spPr>
          <a:xfrm>
            <a:off x="3630854" y="1572768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854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79494" y="1591056"/>
            <a:ext cx="16191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623"/>
                </a:solidFill>
              </a:rPr>
              <a:t>Acontece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30854" y="2121408"/>
            <a:ext cx="20763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O Radar liga o movimento à resposta que lhe corresponde.</a:t>
            </a:r>
            <a:endParaRPr lang="en-US" sz="1200" dirty="0"/>
          </a:p>
        </p:txBody>
      </p:sp>
      <p:sp>
        <p:nvSpPr>
          <p:cNvPr id="14" name="seta"/>
          <p:cNvSpPr/>
          <p:nvPr/>
        </p:nvSpPr>
        <p:spPr>
          <a:xfrm>
            <a:off x="6040984" y="1965960"/>
            <a:ext cx="109728" cy="219456"/>
          </a:xfrm>
          <a:prstGeom prst="chevron">
            <a:avLst/>
          </a:prstGeom>
          <a:solidFill>
            <a:srgbClr val="4E5F5C"/>
          </a:solidFill>
          <a:ln w="12700">
            <a:solidFill>
              <a:srgbClr val="4E5F5C"/>
            </a:solidFill>
            <a:prstDash val="solid"/>
          </a:ln>
        </p:spPr>
      </p:sp>
      <p:sp>
        <p:nvSpPr>
          <p:cNvPr id="15" name="Decidir"/>
          <p:cNvSpPr/>
          <p:nvPr/>
        </p:nvSpPr>
        <p:spPr>
          <a:xfrm>
            <a:off x="6255868" y="1371600"/>
            <a:ext cx="2533574" cy="1417320"/>
          </a:xfrm>
          <a:prstGeom prst="roundRect">
            <a:avLst>
              <a:gd name="adj" fmla="val 7742"/>
            </a:avLst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6" name="numero 3"/>
          <p:cNvSpPr/>
          <p:nvPr/>
        </p:nvSpPr>
        <p:spPr>
          <a:xfrm>
            <a:off x="6484468" y="157276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4468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33108" y="1591056"/>
            <a:ext cx="16191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Decidir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84468" y="2121408"/>
            <a:ext cx="20763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4F3"/>
                </a:solidFill>
              </a:rPr>
              <a:t>A equipa decide ativar. Nada é automático.</a:t>
            </a:r>
            <a:endParaRPr lang="en-US" sz="1200" dirty="0"/>
          </a:p>
        </p:txBody>
      </p:sp>
      <p:sp>
        <p:nvSpPr>
          <p:cNvPr id="20" name="seta"/>
          <p:cNvSpPr/>
          <p:nvPr/>
        </p:nvSpPr>
        <p:spPr>
          <a:xfrm>
            <a:off x="8894597" y="1965960"/>
            <a:ext cx="109728" cy="219456"/>
          </a:xfrm>
          <a:prstGeom prst="chevron">
            <a:avLst/>
          </a:prstGeom>
          <a:solidFill>
            <a:srgbClr val="4E5F5C"/>
          </a:solidFill>
          <a:ln w="12700">
            <a:solidFill>
              <a:srgbClr val="4E5F5C"/>
            </a:solidFill>
            <a:prstDash val="solid"/>
          </a:ln>
        </p:spPr>
      </p:sp>
      <p:sp>
        <p:nvSpPr>
          <p:cNvPr id="21" name="Executar"/>
          <p:cNvSpPr/>
          <p:nvPr/>
        </p:nvSpPr>
        <p:spPr>
          <a:xfrm>
            <a:off x="9109481" y="1371600"/>
            <a:ext cx="2533574" cy="1417320"/>
          </a:xfrm>
          <a:prstGeom prst="roundRect">
            <a:avLst>
              <a:gd name="adj" fmla="val 7742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22" name="numero 4"/>
          <p:cNvSpPr/>
          <p:nvPr/>
        </p:nvSpPr>
        <p:spPr>
          <a:xfrm>
            <a:off x="9338081" y="1572768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38081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86721" y="1591056"/>
            <a:ext cx="16191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623"/>
                </a:solidFill>
              </a:rPr>
              <a:t>Executar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338081" y="2121408"/>
            <a:ext cx="20763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Performance, Brand ou Account, no prazo combinado.</a:t>
            </a:r>
            <a:endParaRPr lang="en-US" sz="1200" dirty="0"/>
          </a:p>
        </p:txBody>
      </p:sp>
      <p:pic>
        <p:nvPicPr>
          <p:cNvPr id="26" name="Captura de uma resposta combinada" descr="Captura de uma resposta combin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8778240" cy="2631937"/>
          </a:xfrm>
          <a:prstGeom prst="rect">
            <a:avLst/>
          </a:prstGeom>
        </p:spPr>
      </p:pic>
      <p:sp>
        <p:nvSpPr>
          <p:cNvPr id="27" name="moldura"/>
          <p:cNvSpPr/>
          <p:nvPr/>
        </p:nvSpPr>
        <p:spPr>
          <a:xfrm>
            <a:off x="548640" y="3063240"/>
            <a:ext cx="8778240" cy="2631937"/>
          </a:xfrm>
          <a:prstGeom prst="roundRect">
            <a:avLst>
              <a:gd name="adj" fmla="val 2085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5768329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601200" y="3108960"/>
            <a:ext cx="2041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E5F5C"/>
                </a:solidFill>
              </a:rPr>
              <a:t>Também mostra as lacunas: movimentos importantes sem resposta combinada.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Resumo da semana e IA, sempre com revisão</a:t>
            </a:r>
            <a:endParaRPr lang="en-US" sz="3200" dirty="0"/>
          </a:p>
        </p:txBody>
      </p:sp>
      <p:pic>
        <p:nvPicPr>
          <p:cNvPr id="3" name="Captura do resumo da semana" descr="Captura do resumo da sem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810699" cy="4572000"/>
          </a:xfrm>
          <a:prstGeom prst="rect">
            <a:avLst/>
          </a:prstGeom>
        </p:spPr>
      </p:pic>
      <p:sp>
        <p:nvSpPr>
          <p:cNvPr id="4" name="moldura"/>
          <p:cNvSpPr/>
          <p:nvPr/>
        </p:nvSpPr>
        <p:spPr>
          <a:xfrm>
            <a:off x="548640" y="1371600"/>
            <a:ext cx="4810699" cy="4572000"/>
          </a:xfrm>
          <a:prstGeom prst="roundRect">
            <a:avLst>
              <a:gd name="adj" fmla="val 1200"/>
            </a:avLst>
          </a:prstGeom>
          <a:ln w="12700">
            <a:solidFill>
              <a:srgbClr val="DCE3E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6016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Demonstração com clientes e marcas fictícios (D33). Sem dados reais.</a:t>
            </a:r>
            <a:endParaRPr lang="en-US" sz="1100" dirty="0"/>
          </a:p>
        </p:txBody>
      </p:sp>
      <p:sp>
        <p:nvSpPr>
          <p:cNvPr id="6" name="numero 1"/>
          <p:cNvSpPr/>
          <p:nvPr/>
        </p:nvSpPr>
        <p:spPr>
          <a:xfrm>
            <a:off x="5862259" y="1417320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62259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56619" y="1399032"/>
            <a:ext cx="5186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O que traz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56619" y="1819656"/>
            <a:ext cx="51864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Em 30 segundos, os pontos da semana, as decisões que cabem à equipa e um rascunho de email para o cliente.</a:t>
            </a:r>
            <a:endParaRPr lang="en-US" sz="1300" dirty="0"/>
          </a:p>
        </p:txBody>
      </p:sp>
      <p:sp>
        <p:nvSpPr>
          <p:cNvPr id="10" name="numero 2"/>
          <p:cNvSpPr/>
          <p:nvPr/>
        </p:nvSpPr>
        <p:spPr>
          <a:xfrm>
            <a:off x="5862259" y="2532888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62259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56619" y="2514600"/>
            <a:ext cx="5186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Sempre por rever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56619" y="2935224"/>
            <a:ext cx="51864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 texto fica «por rever» até alguém da equipa o rever. O email só se copia depois disso e sai assinado pela Arena.</a:t>
            </a:r>
            <a:endParaRPr lang="en-US" sz="1300" dirty="0"/>
          </a:p>
        </p:txBody>
      </p:sp>
      <p:sp>
        <p:nvSpPr>
          <p:cNvPr id="14" name="numero 3"/>
          <p:cNvSpPr/>
          <p:nvPr/>
        </p:nvSpPr>
        <p:spPr>
          <a:xfrm>
            <a:off x="5862259" y="3648456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62259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56619" y="3630168"/>
            <a:ext cx="5186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O que segue para a IA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56619" y="4050792"/>
            <a:ext cx="51864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Só dados públicos sobre concorrentes e os nomes das respostas. Nunca dados internos do cliente.</a:t>
            </a:r>
            <a:endParaRPr lang="en-US" sz="1300" dirty="0"/>
          </a:p>
        </p:txBody>
      </p:sp>
      <p:sp>
        <p:nvSpPr>
          <p:cNvPr id="18" name="numero 4"/>
          <p:cNvSpPr/>
          <p:nvPr/>
        </p:nvSpPr>
        <p:spPr>
          <a:xfrm>
            <a:off x="5862259" y="4764024"/>
            <a:ext cx="420624" cy="420624"/>
          </a:xfrm>
          <a:prstGeom prst="ellipse">
            <a:avLst/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62259" y="4764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56619" y="4745736"/>
            <a:ext cx="5186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Hoje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56619" y="5166360"/>
            <a:ext cx="51864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Na demonstração é feito por regras. O uso de IA real depende de IT e Compliance (Q13).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De onde vêm os dados na versão ligada</a:t>
            </a:r>
            <a:endParaRPr lang="en-US" sz="3200" dirty="0"/>
          </a:p>
        </p:txBody>
      </p:sp>
      <p:graphicFrame>
        <p:nvGraphicFramePr>
          <p:cNvPr id="15" name="fon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486400"/>
                <a:gridCol w="204185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Fonte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 que dá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Regime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62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Meta Ad Library (API)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Anúncios ativos e históricos na UE, com texto, imagem e datas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Pública oficial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Google Ads Transparency Center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Anúncios de pesquisa, YouTube e Display por anunciante e país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Pública oficial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TikTok Commercial Content Library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Anúncios pagos no TikTok na UE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Pública oficial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LinkedIn Ad Library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Anúncios no LinkedIn por anunciante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Pública oficial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Auction Insights (Google Ads do cliente)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Quem aparece nas mesmas pesquisas que o cliente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Dados do cliente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Marktest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Investimento em TV, rádio, imprensa e exterior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Licenciada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DGEG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Preços dos combustíveis por posto e por dia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Pública oficial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Monitorização de páginas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Preços, promoções e folhetos digitais dos concorrentes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A validar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623"/>
                          </a:solidFill>
                        </a:rPr>
                        <a:t>Notícias e Google Trends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Imprensa de setor e interesse de pesquisa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E5F5C"/>
                          </a:solidFill>
                        </a:rPr>
                        <a:t>Pública oficial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E5F5C"/>
                </a:solidFill>
              </a:rPr>
              <a:t>Todas por ligar. Na demonstração, os dados são simulados. Em produção só entram fontes oficiais ou licenciadas, depois de IT e Compliance.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Regras que não mudam</a:t>
            </a:r>
            <a:endParaRPr lang="en-US" sz="3200" dirty="0"/>
          </a:p>
        </p:txBody>
      </p:sp>
      <p:sp>
        <p:nvSpPr>
          <p:cNvPr id="3" name="A plataforma sugere, a equipa decide"/>
          <p:cNvSpPr/>
          <p:nvPr/>
        </p:nvSpPr>
        <p:spPr>
          <a:xfrm>
            <a:off x="548640" y="1371600"/>
            <a:ext cx="3515258" cy="2148840"/>
          </a:xfrm>
          <a:prstGeom prst="roundRect">
            <a:avLst>
              <a:gd name="adj" fmla="val 5106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A plataforma sugere, a equipa decide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 Radar dá informação e pistas. Ativar respostas e o que se leva ao cliente é sempre decisão da equipa.</a:t>
            </a:r>
            <a:endParaRPr lang="en-US" sz="1300" dirty="0"/>
          </a:p>
        </p:txBody>
      </p:sp>
      <p:sp>
        <p:nvSpPr>
          <p:cNvPr id="6" name="Nada chega ao cliente sozinho"/>
          <p:cNvSpPr/>
          <p:nvPr/>
        </p:nvSpPr>
        <p:spPr>
          <a:xfrm>
            <a:off x="4338218" y="1371600"/>
            <a:ext cx="3515258" cy="2148840"/>
          </a:xfrm>
          <a:prstGeom prst="roundRect">
            <a:avLst>
              <a:gd name="adj" fmla="val 5106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5727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Nada chega ao cliente sozinho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28600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O que sai para o cliente é decidido pela equipa e assinado pela Arena, sem autoria individual.</a:t>
            </a:r>
            <a:endParaRPr lang="en-US" sz="1300" dirty="0"/>
          </a:p>
        </p:txBody>
      </p:sp>
      <p:sp>
        <p:nvSpPr>
          <p:cNvPr id="9" name="Cada dado tem origem"/>
          <p:cNvSpPr/>
          <p:nvPr/>
        </p:nvSpPr>
        <p:spPr>
          <a:xfrm>
            <a:off x="8127797" y="1371600"/>
            <a:ext cx="3515258" cy="2148840"/>
          </a:xfrm>
          <a:prstGeom prst="roundRect">
            <a:avLst>
              <a:gd name="adj" fmla="val 5106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57276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Cada dado tem origem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28600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Real, estimado ou demonstração, com selo em cada página e o método dos estimados à vista.</a:t>
            </a:r>
            <a:endParaRPr lang="en-US" sz="1300" dirty="0"/>
          </a:p>
        </p:txBody>
      </p:sp>
      <p:sp>
        <p:nvSpPr>
          <p:cNvPr id="12" name="Os dados do cliente ficam na agência"/>
          <p:cNvSpPr/>
          <p:nvPr/>
        </p:nvSpPr>
        <p:spPr>
          <a:xfrm>
            <a:off x="548640" y="3749040"/>
            <a:ext cx="3515258" cy="2148840"/>
          </a:xfrm>
          <a:prstGeom prst="roundRect">
            <a:avLst>
              <a:gd name="adj" fmla="val 5106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5020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Os dados do cliente ficam na agência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Plano de meios e dados de pesquisa paga nunca vão para repositórios nem para modelos de IA.</a:t>
            </a:r>
            <a:endParaRPr lang="en-US" sz="1300" dirty="0"/>
          </a:p>
        </p:txBody>
      </p:sp>
      <p:sp>
        <p:nvSpPr>
          <p:cNvPr id="15" name="Só marcas fictícias na demonstração"/>
          <p:cNvSpPr/>
          <p:nvPr/>
        </p:nvSpPr>
        <p:spPr>
          <a:xfrm>
            <a:off x="4338218" y="3749040"/>
            <a:ext cx="3515258" cy="2148840"/>
          </a:xfrm>
          <a:prstGeom prst="roundRect">
            <a:avLst>
              <a:gd name="adj" fmla="val 5106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395020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Só marcas fictícias na demonstração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66344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Nenhum cliente ou concorrente real aparece com dados inventados.</a:t>
            </a:r>
            <a:endParaRPr lang="en-US" sz="1300" dirty="0"/>
          </a:p>
        </p:txBody>
      </p:sp>
      <p:sp>
        <p:nvSpPr>
          <p:cNvPr id="18" name="Tudo documentado"/>
          <p:cNvSpPr/>
          <p:nvPr/>
        </p:nvSpPr>
        <p:spPr>
          <a:xfrm>
            <a:off x="8127797" y="3749040"/>
            <a:ext cx="3515258" cy="2148840"/>
          </a:xfrm>
          <a:prstGeom prst="roundRect">
            <a:avLst>
              <a:gd name="adj" fmla="val 5106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3950208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Tudo documentado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66344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E5F5C"/>
                </a:solidFill>
              </a:rPr>
              <a:t>Decisões, fontes, riscos e perguntas em aberto no dossier, para a direção, o IT e o Compliance.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623"/>
                </a:solidFill>
              </a:rPr>
              <a:t>Onde estamos e o que vem a seguir</a:t>
            </a:r>
            <a:endParaRPr lang="en-US" sz="3200" dirty="0"/>
          </a:p>
        </p:txBody>
      </p:sp>
      <p:sp>
        <p:nvSpPr>
          <p:cNvPr id="3" name="estado 1"/>
          <p:cNvSpPr/>
          <p:nvPr/>
        </p:nvSpPr>
        <p:spPr>
          <a:xfrm>
            <a:off x="548640" y="141732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2F5F0"/>
          </a:solidFill>
          <a:ln w="12700">
            <a:solidFill>
              <a:srgbClr val="E2F5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58"/>
                </a:solidFill>
              </a:rPr>
              <a:t>Feito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38074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623"/>
                </a:solidFill>
              </a:rPr>
              <a:t>Conceito e protótipo de demonstração</a:t>
            </a:r>
            <a:endParaRPr lang="en-US" sz="1300" dirty="0"/>
          </a:p>
        </p:txBody>
      </p:sp>
      <p:sp>
        <p:nvSpPr>
          <p:cNvPr id="6" name="estado 2"/>
          <p:cNvSpPr/>
          <p:nvPr/>
        </p:nvSpPr>
        <p:spPr>
          <a:xfrm>
            <a:off x="548640" y="228600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5C7"/>
          </a:solidFill>
          <a:ln w="12700">
            <a:solidFill>
              <a:srgbClr val="FFF5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4B00"/>
                </a:solidFill>
              </a:rPr>
              <a:t>Em curso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24942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623"/>
                </a:solidFill>
              </a:rPr>
              <a:t>Movimentos, previsões e choques: métodos prontos, por provar com dados reais</a:t>
            </a:r>
            <a:endParaRPr lang="en-US" sz="1300" dirty="0"/>
          </a:p>
        </p:txBody>
      </p:sp>
      <p:sp>
        <p:nvSpPr>
          <p:cNvPr id="9" name="estado 3"/>
          <p:cNvSpPr/>
          <p:nvPr/>
        </p:nvSpPr>
        <p:spPr>
          <a:xfrm>
            <a:off x="548640" y="31546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5C7"/>
          </a:solidFill>
          <a:ln w="12700">
            <a:solidFill>
              <a:srgbClr val="FFF5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4B00"/>
                </a:solidFill>
              </a:rPr>
              <a:t>Em curso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11810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623"/>
                </a:solidFill>
              </a:rPr>
              <a:t>Resumo e classificação por IA: por regras na demonstração</a:t>
            </a:r>
            <a:endParaRPr lang="en-US" sz="1300" dirty="0"/>
          </a:p>
        </p:txBody>
      </p:sp>
      <p:sp>
        <p:nvSpPr>
          <p:cNvPr id="12" name="estado 4"/>
          <p:cNvSpPr/>
          <p:nvPr/>
        </p:nvSpPr>
        <p:spPr>
          <a:xfrm>
            <a:off x="548640" y="40233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5F5C"/>
                </a:solidFill>
              </a:rPr>
              <a:t>Por fazer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9867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623"/>
                </a:solidFill>
              </a:rPr>
              <a:t>Recolha de dados reais e dados do cliente</a:t>
            </a:r>
            <a:endParaRPr lang="en-US" sz="1300" dirty="0"/>
          </a:p>
        </p:txBody>
      </p:sp>
      <p:sp>
        <p:nvSpPr>
          <p:cNvPr id="15" name="estado 5"/>
          <p:cNvSpPr/>
          <p:nvPr/>
        </p:nvSpPr>
        <p:spPr>
          <a:xfrm>
            <a:off x="548640" y="48920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5F5C"/>
                </a:solidFill>
              </a:rPr>
              <a:t>Por fazer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85546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623"/>
                </a:solidFill>
              </a:rPr>
              <a:t>Partilha entre a equipa e stack de produção, com o IT</a:t>
            </a:r>
            <a:endParaRPr lang="en-US" sz="1300" dirty="0"/>
          </a:p>
        </p:txBody>
      </p:sp>
      <p:sp>
        <p:nvSpPr>
          <p:cNvPr id="18" name="Teste com dados reais"/>
          <p:cNvSpPr/>
          <p:nvPr/>
        </p:nvSpPr>
        <p:spPr>
          <a:xfrm>
            <a:off x="6537960" y="1371600"/>
            <a:ext cx="5105095" cy="1371600"/>
          </a:xfrm>
          <a:prstGeom prst="roundRect">
            <a:avLst>
              <a:gd name="adj" fmla="val 8000"/>
            </a:avLst>
          </a:prstGeom>
          <a:solidFill>
            <a:srgbClr val="0F2623"/>
          </a:solidFill>
          <a:ln w="12700">
            <a:solidFill>
              <a:srgbClr val="0F26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1536192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1F4F3"/>
                </a:solidFill>
              </a:rPr>
              <a:t>2 semanas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178308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Teste com dados reais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2176272"/>
            <a:ext cx="4556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4F3"/>
                </a:solidFill>
              </a:rPr>
              <a:t>1 vertical, cerca de 6 marcas, só fontes públicas. Que parte dos movimentos vemos, com que atraso e qualidade.</a:t>
            </a:r>
            <a:endParaRPr lang="en-US" sz="1200" dirty="0"/>
          </a:p>
        </p:txBody>
      </p:sp>
      <p:sp>
        <p:nvSpPr>
          <p:cNvPr id="22" name="Piloto"/>
          <p:cNvSpPr/>
          <p:nvPr/>
        </p:nvSpPr>
        <p:spPr>
          <a:xfrm>
            <a:off x="6537960" y="2926080"/>
            <a:ext cx="5105095" cy="137160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3090672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E5F5C"/>
                </a:solidFill>
              </a:rPr>
              <a:t>6 semanas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33756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Piloto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730752"/>
            <a:ext cx="4556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Uma equipa de conta: 3 semanas em modo sombra, 3 em uso, com respostas combinadas com o cliente.</a:t>
            </a:r>
            <a:endParaRPr lang="en-US" sz="1200" dirty="0"/>
          </a:p>
        </p:txBody>
      </p:sp>
      <p:sp>
        <p:nvSpPr>
          <p:cNvPr id="26" name="Versão ligada"/>
          <p:cNvSpPr/>
          <p:nvPr/>
        </p:nvSpPr>
        <p:spPr>
          <a:xfrm>
            <a:off x="6537960" y="4480560"/>
            <a:ext cx="5105095" cy="1371600"/>
          </a:xfrm>
          <a:prstGeom prst="roundRect">
            <a:avLst>
              <a:gd name="adj" fmla="val 8000"/>
            </a:avLst>
          </a:prstGeom>
          <a:solidFill>
            <a:srgbClr val="F1F4F3"/>
          </a:solidFill>
          <a:ln w="12700">
            <a:solidFill>
              <a:srgbClr val="F1F4F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4645152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E5F5C"/>
                </a:solidFill>
              </a:rPr>
              <a:t>se o piloto provar valor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489204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623"/>
                </a:solidFill>
              </a:rPr>
              <a:t>Versão ligada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5285232"/>
            <a:ext cx="4556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F5C"/>
                </a:solidFill>
              </a:rPr>
              <a:t>Recolha automática, partilha entre a equipa e stack decidido com o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5433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5F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Ver primeiro. Perceber o padrão. Responder depressa.</a:t>
            </a:r>
            <a:endParaRPr lang="en-US" sz="3600" dirty="0"/>
          </a:p>
        </p:txBody>
      </p:sp>
      <p:sp>
        <p:nvSpPr>
          <p:cNvPr id="3" name="numero 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12140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Ver a demonstração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5603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4F3"/>
                </a:solidFill>
              </a:rPr>
              <a:t>No protótipo, o botão «Demonstração» faz o percurso em 7 passos: o que mexeu, a prova, o resumo, o que vem aí, o choque com o plano, as respostas e a Torre.</a:t>
            </a:r>
            <a:endParaRPr lang="en-US" sz="1300" dirty="0"/>
          </a:p>
        </p:txBody>
      </p:sp>
      <p:sp>
        <p:nvSpPr>
          <p:cNvPr id="7" name="numero 2"/>
          <p:cNvSpPr/>
          <p:nvPr/>
        </p:nvSpPr>
        <p:spPr>
          <a:xfrm>
            <a:off x="548640" y="33832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3558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Ler mais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794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4F3"/>
                </a:solidFill>
              </a:rPr>
              <a:t>Especificação em docs/11-v4-radar-de-movimentos.md. Decisões, fontes, riscos e perguntas em aberto no dossier (docs/dossier/).</a:t>
            </a:r>
            <a:endParaRPr lang="en-US" sz="1300" dirty="0"/>
          </a:p>
        </p:txBody>
      </p:sp>
      <p:sp>
        <p:nvSpPr>
          <p:cNvPr id="11" name="numero 3"/>
          <p:cNvSpPr/>
          <p:nvPr/>
        </p:nvSpPr>
        <p:spPr>
          <a:xfrm>
            <a:off x="548640" y="461772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23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59028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Falar connosco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0292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4F3"/>
                </a:solidFill>
              </a:rPr>
              <a:t>David, Senior Account/Media Manager, Arena Media Portugal.</a:t>
            </a:r>
            <a:endParaRPr lang="en-US" sz="1300" dirty="0"/>
          </a:p>
        </p:txBody>
      </p:sp>
      <p:sp>
        <p:nvSpPr>
          <p:cNvPr id="15" name="radar 0"/>
          <p:cNvSpPr/>
          <p:nvPr/>
        </p:nvSpPr>
        <p:spPr>
          <a:xfrm>
            <a:off x="9436608" y="2487168"/>
            <a:ext cx="2340864" cy="2340864"/>
          </a:xfrm>
          <a:prstGeom prst="ellipse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radar 1"/>
          <p:cNvSpPr/>
          <p:nvPr/>
        </p:nvSpPr>
        <p:spPr>
          <a:xfrm>
            <a:off x="9765792" y="2816352"/>
            <a:ext cx="1682496" cy="1682496"/>
          </a:xfrm>
          <a:prstGeom prst="ellipse">
            <a:avLst/>
          </a:prstGeom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radar 2"/>
          <p:cNvSpPr/>
          <p:nvPr/>
        </p:nvSpPr>
        <p:spPr>
          <a:xfrm>
            <a:off x="10094976" y="3145536"/>
            <a:ext cx="1024128" cy="1024128"/>
          </a:xfrm>
          <a:prstGeom prst="ellipse">
            <a:avLst/>
          </a:prstGeom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varrimento"/>
          <p:cNvSpPr/>
          <p:nvPr/>
        </p:nvSpPr>
        <p:spPr>
          <a:xfrm>
            <a:off x="10607040" y="2487168"/>
            <a:ext cx="0" cy="1170432"/>
          </a:xfrm>
          <a:prstGeom prst="line">
            <a:avLst/>
          </a:prstGeom>
          <a:noFill/>
          <a:ln w="19050">
            <a:solidFill>
              <a:srgbClr val="FFDC32"/>
            </a:solidFill>
            <a:prstDash val="solid"/>
          </a:ln>
        </p:spPr>
      </p:sp>
      <p:sp>
        <p:nvSpPr>
          <p:cNvPr id="19" name="sinal"/>
          <p:cNvSpPr/>
          <p:nvPr/>
        </p:nvSpPr>
        <p:spPr>
          <a:xfrm>
            <a:off x="11060582" y="2926080"/>
            <a:ext cx="164592" cy="164592"/>
          </a:xfrm>
          <a:prstGeom prst="ellipse">
            <a:avLst/>
          </a:prstGeom>
          <a:solidFill>
            <a:srgbClr val="FFDC32"/>
          </a:solidFill>
          <a:ln w="12700">
            <a:solidFill>
              <a:srgbClr val="FFDC3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71455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1F4F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ena Radar">
  <a:themeElements>
    <a:clrScheme name="Arena Radar">
      <a:dk1>
        <a:srgbClr val="0F2623"/>
      </a:dk1>
      <a:lt1>
        <a:srgbClr val="FFFFFF"/>
      </a:lt1>
      <a:dk2>
        <a:srgbClr val="4E5F5C"/>
      </a:dk2>
      <a:lt2>
        <a:srgbClr val="F1F4F3"/>
      </a:lt2>
      <a:accent1>
        <a:srgbClr val="328CF5"/>
      </a:accent1>
      <a:accent2>
        <a:srgbClr val="FFDC32"/>
      </a:accent2>
      <a:accent3>
        <a:srgbClr val="00B89B"/>
      </a:accent3>
      <a:accent4>
        <a:srgbClr val="E60000"/>
      </a:accent4>
      <a:accent5>
        <a:srgbClr val="733478"/>
      </a:accent5>
      <a:accent6>
        <a:srgbClr val="1B6FD6"/>
      </a:accent6>
      <a:hlink>
        <a:srgbClr val="1B6FD6"/>
      </a:hlink>
      <a:folHlink>
        <a:srgbClr val="733478"/>
      </a:folHlink>
    </a:clrScheme>
    <a:fontScheme name="Arena Radar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Arena Media Portugal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 Radar — O que é e como funciona</dc:title>
  <dc:subject>PptxGenJS Presentation</dc:subject>
  <dc:creator>Arena Media Portugal</dc:creator>
  <cp:lastModifiedBy>Arena Media Portugal</cp:lastModifiedBy>
  <cp:revision>1</cp:revision>
  <dcterms:created xsi:type="dcterms:W3CDTF">2026-10-11T16:02:33Z</dcterms:created>
  <dcterms:modified xsi:type="dcterms:W3CDTF">2026-10-11T16:02:33Z</dcterms:modified>
</cp:coreProperties>
</file>